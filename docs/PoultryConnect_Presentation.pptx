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Hello, my name is [Your Name] and this is PoultryConnect, my cloud-based web system design project. PoultryConnect is a marketplace that connects poultry farmers directly with wholesale buyers, cutting out the middlemen who usually sit between them. Over the next ten minutes I'll walk through the problem, the architecture, the build, and a short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[0:30-1:45] The underlying problem is a long, opaque supply chain. A farmer with birds or eggs ready to sell usually goes through one or two layers of middlemen before reaching an actual wholesale buyer — a hotel, a distributor, a market trader. Each layer takes a cut. Agricultural market-access research across Sub-Saharan Africa backs this up: farm-gate sale to an intermediary is the dominant channel, not because it pays best, but because farmers lack storage, transport, and — critically — direct information about who wants to buy. That's the gap PoultryConnect targets.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[1:45-2:45] This isn't a niche issue in poultry either. Value-chain assessments of poultry markets describe the same fragmented, multi-layered supply chain, and note that limited information about both input and output markets is one of the persistent constraints smallholder poultry producers face. Most birds in many of these markets are still raised in small backyard operations, which is exactly the population a simple digital marketplace can help. And we know digital information tools are seen as a credible remedy, because governments and NGOs already run SMS and hotline services for exactly this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[2:45-3:30] So the solution is deliberately narrow: a two-sided marketplace with two roles. Farmers register, list stock with quantity, price and location, and manage incoming orders. Buyers browse and filter that live marketplace, see the farmer's contact details, and place orders they can then track. I left out payments, logistics and reviews on purpose — the goal was to spend the engineering effort on the cloud architecture itself, not a full e-commerce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[3:30-4:30] Here's the architecture. A React single-page app on Vercel is the presentation layer. It talks over HTTPS to a stateless Node and Express REST API hosted on Render, which handles authentication, listings and orders. That API talks to MongoDB Atlas, a managed cloud database, through Mongoose. Authentication is stateless — a signed JWT sits in the browser and is attached to every request — which means the API tier can scale horizontally without needing shared session storage. Every tier can be redeployed or scaled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[4:30-5:15] The data model has three collections. A User is either a farmer or a buyer, with a hashed password and a role flag the API uses for authorisation. A Listing belongs to one farmer. An Order links a listing, the buyer who placed it, and the farmer who owns it, and carries its own status — pending, accepted, rejected, or completed — independent of the listing's own availability. Because listings and orders are updated far more often than user records, I used referenced IDs rather than embedding, which is the more scalable choice in a document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[5:15-6:15] Quickly on the stack, and why: React and Vite for a fast, component-based front end that suits two quite different dashboards. Node and Express so I'm writing one language across the whole stack. MongoDB Atlas because it's a managed, free-tier cloud database — no infrastructure to run myself, and a flexible schema that suits optional listing fields. JWT and bcrypt for stateless, industry-standard authentication. And Vercel and Render because both give git-push continuous deployment to genuine public cloud infrastructure, which satisfies the CI/CD requirement without hand-building a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[6:15-8:45] Now let me switch over and show this running live. I'll register a farmer account and a buyer account, publish a listing as the farmer, switch to the buyer account to filter the marketplace and place an order, then switch back to the farmer dashboard to accept that order, and finally show the buyer seeing the status update. [Switch screen share to the live Vercel URL and narrate each step as you click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[8:45-9:30] Briefly on security and deployment. Passwords are salted and hashed with bcrypt and never stored in plain text. Authentication is a stateless, signed JWT. Every write endpoint checks both role and ownership, so a farmer can only edit their own listings. CORS is locked to my known frontend origin, and every secret lives in environment variables, never in the Git repository. On deployment, it's fully git-based continuous delivery: a push to main auto-builds and redeploys both Render and Vercel within minutes, with secrets injected per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[9:30-10:00] A few honest limitations: there's no payment integration yet, no photo upload for listings, no offline or SMS channel for farmers without smartphones, and no automated test suite beyond the hosting platforms' own build checks. Those are my clear next steps. To close: PoultryConnect takes a genuine, evidenced real-world problem and delivers a working, secure, cloud-deployed solution to it — a solid foundation to build on. Thank you —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420"/>
        </a:solidFill>
      </p:bgPr>
    </p:bg>
    <p:spTree>
      <p:nvGrpSpPr>
        <p:cNvPr id="1" name=""/>
        <p:cNvGrpSpPr/>
        <p:nvPr/>
      </p:nvGrpSpPr>
      <p:grpSpPr>
        <a:xfrm>
          <a:off x="0" y="0"/>
          <a:ext cx="0" cy="0"/>
          <a:chOff x="0" y="0"/>
          <a:chExt cx="0" cy="0"/>
        </a:xfrm>
      </p:grpSpPr>
      <p:sp>
        <p:nvSpPr>
          <p:cNvPr id="2" name="Shape 0"/>
          <p:cNvSpPr/>
          <p:nvPr/>
        </p:nvSpPr>
        <p:spPr>
          <a:xfrm>
            <a:off x="0" y="4160520"/>
            <a:ext cx="12188952" cy="54864"/>
          </a:xfrm>
          <a:prstGeom prst="rect">
            <a:avLst/>
          </a:prstGeom>
          <a:solidFill>
            <a:srgbClr val="E4C878"/>
          </a:solidFill>
          <a:ln/>
        </p:spPr>
      </p:sp>
      <p:sp>
        <p:nvSpPr>
          <p:cNvPr id="3" name="Text 1"/>
          <p:cNvSpPr txBox="1"/>
          <p:nvPr/>
        </p:nvSpPr>
        <p:spPr>
          <a:xfrm>
            <a:off x="822960" y="2331720"/>
            <a:ext cx="10515600" cy="457200"/>
          </a:xfrm>
          <a:prstGeom prst="rect">
            <a:avLst/>
          </a:prstGeom>
          <a:noFill/>
          <a:ln/>
        </p:spPr>
        <p:txBody>
          <a:bodyPr wrap="square" lIns="0" tIns="0" rIns="0" bIns="0" rtlCol="0" anchor="ctr"/>
          <a:lstStyle/>
          <a:p>
            <a:pPr indent="0" marL="0">
              <a:buNone/>
            </a:pPr>
            <a:r>
              <a:rPr lang="en-US" sz="1500" spc="100" kern="0" dirty="0">
                <a:solidFill>
                  <a:srgbClr val="E4C878"/>
                </a:solidFill>
                <a:latin typeface="Calibri" pitchFamily="34" charset="0"/>
                <a:ea typeface="Calibri" pitchFamily="34" charset="-122"/>
                <a:cs typeface="Calibri" pitchFamily="34" charset="-120"/>
              </a:rPr>
              <a:t>CLOUD-BASED WEB SYSTEM DESIGN — MASTER'S PROJECT</a:t>
            </a:r>
            <a:endParaRPr lang="en-US" sz="1500" dirty="0"/>
          </a:p>
        </p:txBody>
      </p:sp>
      <p:sp>
        <p:nvSpPr>
          <p:cNvPr id="4" name="Text 2"/>
          <p:cNvSpPr txBox="1"/>
          <p:nvPr/>
        </p:nvSpPr>
        <p:spPr>
          <a:xfrm>
            <a:off x="777240" y="2788920"/>
            <a:ext cx="10515600" cy="1188720"/>
          </a:xfrm>
          <a:prstGeom prst="rect">
            <a:avLst/>
          </a:prstGeom>
          <a:noFill/>
          <a:ln/>
        </p:spPr>
        <p:txBody>
          <a:bodyPr wrap="square" lIns="0" tIns="0" rIns="0" bIns="0" rtlCol="0" anchor="ctr"/>
          <a:lstStyle/>
          <a:p>
            <a:pPr indent="0" marL="0">
              <a:buNone/>
            </a:pPr>
            <a:r>
              <a:rPr lang="en-US" sz="5400" b="1" dirty="0">
                <a:solidFill>
                  <a:srgbClr val="FFFDF8"/>
                </a:solidFill>
                <a:latin typeface="Cambria" pitchFamily="34" charset="0"/>
                <a:ea typeface="Cambria" pitchFamily="34" charset="-122"/>
                <a:cs typeface="Cambria" pitchFamily="34" charset="-120"/>
              </a:rPr>
              <a:t>PoultryConnect</a:t>
            </a:r>
            <a:endParaRPr lang="en-US" sz="5400" dirty="0"/>
          </a:p>
        </p:txBody>
      </p:sp>
      <p:sp>
        <p:nvSpPr>
          <p:cNvPr id="5" name="Text 3"/>
          <p:cNvSpPr txBox="1"/>
          <p:nvPr/>
        </p:nvSpPr>
        <p:spPr>
          <a:xfrm>
            <a:off x="822960" y="4343400"/>
            <a:ext cx="10058400" cy="548640"/>
          </a:xfrm>
          <a:prstGeom prst="rect">
            <a:avLst/>
          </a:prstGeom>
          <a:noFill/>
          <a:ln/>
        </p:spPr>
        <p:txBody>
          <a:bodyPr wrap="square" lIns="0" tIns="0" rIns="0" bIns="0" rtlCol="0" anchor="ctr"/>
          <a:lstStyle/>
          <a:p>
            <a:pPr indent="0" marL="0">
              <a:buNone/>
            </a:pPr>
            <a:r>
              <a:rPr lang="en-US" sz="2000" i="1" dirty="0">
                <a:solidFill>
                  <a:srgbClr val="F6F1E3"/>
                </a:solidFill>
                <a:latin typeface="Calibri" pitchFamily="34" charset="0"/>
                <a:ea typeface="Calibri" pitchFamily="34" charset="-122"/>
                <a:cs typeface="Calibri" pitchFamily="34" charset="-120"/>
              </a:rPr>
              <a:t>Connecting poultry farmers directly with wholesale buyers</a:t>
            </a:r>
            <a:endParaRPr lang="en-US" sz="2000" dirty="0"/>
          </a:p>
        </p:txBody>
      </p:sp>
      <p:sp>
        <p:nvSpPr>
          <p:cNvPr id="6" name="Text 4"/>
          <p:cNvSpPr txBox="1"/>
          <p:nvPr/>
        </p:nvSpPr>
        <p:spPr>
          <a:xfrm>
            <a:off x="822960" y="6035040"/>
            <a:ext cx="10058400" cy="365760"/>
          </a:xfrm>
          <a:prstGeom prst="rect">
            <a:avLst/>
          </a:prstGeom>
          <a:noFill/>
          <a:ln/>
        </p:spPr>
        <p:txBody>
          <a:bodyPr wrap="square" lIns="0" tIns="0" rIns="0" bIns="0" rtlCol="0" anchor="ctr"/>
          <a:lstStyle/>
          <a:p>
            <a:pPr indent="0" marL="0">
              <a:buNone/>
            </a:pPr>
            <a:r>
              <a:rPr lang="en-US" sz="1300" dirty="0">
                <a:solidFill>
                  <a:srgbClr val="B9B3A0"/>
                </a:solidFill>
                <a:latin typeface="Calibri" pitchFamily="34" charset="0"/>
                <a:ea typeface="Calibri" pitchFamily="34" charset="-122"/>
                <a:cs typeface="Calibri" pitchFamily="34" charset="-120"/>
              </a:rPr>
              <a:t>[Your Full Name]   ·   [Student ID]   ·   [Programme Name]   ·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3"/>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400" b="1" dirty="0">
                <a:solidFill>
                  <a:srgbClr val="AC4B27"/>
                </a:solidFill>
                <a:latin typeface="Calibri" pitchFamily="34" charset="0"/>
                <a:ea typeface="Calibri" pitchFamily="34" charset="-122"/>
                <a:cs typeface="Calibri" pitchFamily="34" charset="-120"/>
              </a:rPr>
              <a:t>THE PROBLEM</a:t>
            </a:r>
            <a:endParaRPr lang="en-US" sz="1400" dirty="0"/>
          </a:p>
        </p:txBody>
      </p:sp>
      <p:sp>
        <p:nvSpPr>
          <p:cNvPr id="3" name="Text 1"/>
          <p:cNvSpPr txBox="1"/>
          <p:nvPr/>
        </p:nvSpPr>
        <p:spPr>
          <a:xfrm>
            <a:off x="548640" y="685800"/>
            <a:ext cx="10515600" cy="1188720"/>
          </a:xfrm>
          <a:prstGeom prst="rect">
            <a:avLst/>
          </a:prstGeom>
          <a:noFill/>
          <a:ln/>
        </p:spPr>
        <p:txBody>
          <a:bodyPr wrap="square" lIns="0" tIns="0" rIns="0" bIns="0" rtlCol="0" anchor="ctr"/>
          <a:lstStyle/>
          <a:p>
            <a:pPr indent="0" marL="0">
              <a:buNone/>
            </a:pPr>
            <a:r>
              <a:rPr lang="en-US" sz="3200" b="1" dirty="0">
                <a:solidFill>
                  <a:srgbClr val="262420"/>
                </a:solidFill>
                <a:latin typeface="Cambria" pitchFamily="34" charset="0"/>
                <a:ea typeface="Cambria" pitchFamily="34" charset="-122"/>
                <a:cs typeface="Cambria" pitchFamily="34" charset="-120"/>
              </a:rPr>
              <a:t>Farmers lose margin to middlemen. Buyers lose visibility into supply.</a:t>
            </a:r>
            <a:endParaRPr lang="en-US" sz="3200" dirty="0"/>
          </a:p>
        </p:txBody>
      </p:sp>
      <p:sp>
        <p:nvSpPr>
          <p:cNvPr id="4" name="Shape 2"/>
          <p:cNvSpPr/>
          <p:nvPr/>
        </p:nvSpPr>
        <p:spPr>
          <a:xfrm>
            <a:off x="548640" y="1965960"/>
            <a:ext cx="2011680" cy="41148"/>
          </a:xfrm>
          <a:prstGeom prst="rect">
            <a:avLst/>
          </a:prstGeom>
          <a:solidFill>
            <a:srgbClr val="AC4B27"/>
          </a:solidFill>
          <a:ln/>
        </p:spPr>
      </p:sp>
      <p:sp>
        <p:nvSpPr>
          <p:cNvPr id="5" name="Shape 3"/>
          <p:cNvSpPr/>
          <p:nvPr/>
        </p:nvSpPr>
        <p:spPr>
          <a:xfrm>
            <a:off x="548640" y="2103120"/>
            <a:ext cx="2606040" cy="1737360"/>
          </a:xfrm>
          <a:prstGeom prst="roundRect">
            <a:avLst>
              <a:gd name="adj" fmla="val 4211"/>
            </a:avLst>
          </a:prstGeom>
          <a:solidFill>
            <a:srgbClr val="45573A"/>
          </a:solidFill>
          <a:ln/>
        </p:spPr>
      </p:sp>
      <p:sp>
        <p:nvSpPr>
          <p:cNvPr id="6" name="Text 4"/>
          <p:cNvSpPr txBox="1"/>
          <p:nvPr/>
        </p:nvSpPr>
        <p:spPr>
          <a:xfrm>
            <a:off x="713232" y="2240280"/>
            <a:ext cx="2276856" cy="457200"/>
          </a:xfrm>
          <a:prstGeom prst="rect">
            <a:avLst/>
          </a:prstGeom>
          <a:noFill/>
          <a:ln/>
        </p:spPr>
        <p:txBody>
          <a:bodyPr wrap="square" lIns="0" tIns="0" rIns="0" bIns="0" rtlCol="0" anchor="ctr"/>
          <a:lstStyle/>
          <a:p>
            <a:pPr indent="0" marL="0">
              <a:buNone/>
            </a:pPr>
            <a:r>
              <a:rPr lang="en-US" sz="1600" b="1" dirty="0">
                <a:solidFill>
                  <a:srgbClr val="FFFDF8"/>
                </a:solidFill>
                <a:latin typeface="Cambria" pitchFamily="34" charset="0"/>
                <a:ea typeface="Cambria" pitchFamily="34" charset="-122"/>
                <a:cs typeface="Cambria" pitchFamily="34" charset="-120"/>
              </a:rPr>
              <a:t>Farmer</a:t>
            </a:r>
            <a:endParaRPr lang="en-US" sz="1600" dirty="0"/>
          </a:p>
        </p:txBody>
      </p:sp>
      <p:sp>
        <p:nvSpPr>
          <p:cNvPr id="7" name="Text 5"/>
          <p:cNvSpPr txBox="1"/>
          <p:nvPr/>
        </p:nvSpPr>
        <p:spPr>
          <a:xfrm>
            <a:off x="713232" y="2697480"/>
            <a:ext cx="2276856" cy="1051560"/>
          </a:xfrm>
          <a:prstGeom prst="rect">
            <a:avLst/>
          </a:prstGeom>
          <a:noFill/>
          <a:ln/>
        </p:spPr>
        <p:txBody>
          <a:bodyPr wrap="square" lIns="0" tIns="0" rIns="0" bIns="0" rtlCol="0" anchor="ctr"/>
          <a:lstStyle/>
          <a:p>
            <a:pPr indent="0" marL="0">
              <a:buNone/>
            </a:pPr>
            <a:r>
              <a:rPr lang="en-US" sz="1150" dirty="0">
                <a:solidFill>
                  <a:srgbClr val="FFFDF8"/>
                </a:solidFill>
                <a:latin typeface="Calibri" pitchFamily="34" charset="0"/>
                <a:ea typeface="Calibri" pitchFamily="34" charset="-122"/>
                <a:cs typeface="Calibri" pitchFamily="34" charset="-120"/>
              </a:rPr>
              <a:t>Raises broilers, layers, eggs — has stock ready to sell</a:t>
            </a:r>
            <a:endParaRPr lang="en-US" sz="1150" dirty="0"/>
          </a:p>
        </p:txBody>
      </p:sp>
      <p:sp>
        <p:nvSpPr>
          <p:cNvPr id="8" name="Text 6"/>
          <p:cNvSpPr txBox="1"/>
          <p:nvPr/>
        </p:nvSpPr>
        <p:spPr>
          <a:xfrm>
            <a:off x="3154680" y="2606040"/>
            <a:ext cx="137160" cy="548640"/>
          </a:xfrm>
          <a:prstGeom prst="rect">
            <a:avLst/>
          </a:prstGeom>
          <a:noFill/>
          <a:ln/>
        </p:spPr>
        <p:txBody>
          <a:bodyPr wrap="square" lIns="0" tIns="0" rIns="0" bIns="0" rtlCol="0" anchor="ctr"/>
          <a:lstStyle/>
          <a:p>
            <a:pPr algn="ctr" indent="0" marL="0">
              <a:buNone/>
            </a:pPr>
            <a:r>
              <a:rPr lang="en-US" sz="2200" b="1" dirty="0">
                <a:solidFill>
                  <a:srgbClr val="262420"/>
                </a:solidFill>
              </a:rPr>
              <a:t>→</a:t>
            </a:r>
            <a:endParaRPr lang="en-US" sz="2200" dirty="0"/>
          </a:p>
        </p:txBody>
      </p:sp>
      <p:sp>
        <p:nvSpPr>
          <p:cNvPr id="9" name="Shape 7"/>
          <p:cNvSpPr/>
          <p:nvPr/>
        </p:nvSpPr>
        <p:spPr>
          <a:xfrm>
            <a:off x="3291840" y="2103120"/>
            <a:ext cx="2606040" cy="1737360"/>
          </a:xfrm>
          <a:prstGeom prst="roundRect">
            <a:avLst>
              <a:gd name="adj" fmla="val 4211"/>
            </a:avLst>
          </a:prstGeom>
          <a:solidFill>
            <a:srgbClr val="AC4B27"/>
          </a:solidFill>
          <a:ln/>
        </p:spPr>
      </p:sp>
      <p:sp>
        <p:nvSpPr>
          <p:cNvPr id="10" name="Text 8"/>
          <p:cNvSpPr txBox="1"/>
          <p:nvPr/>
        </p:nvSpPr>
        <p:spPr>
          <a:xfrm>
            <a:off x="3456432" y="2240280"/>
            <a:ext cx="2276856" cy="457200"/>
          </a:xfrm>
          <a:prstGeom prst="rect">
            <a:avLst/>
          </a:prstGeom>
          <a:noFill/>
          <a:ln/>
        </p:spPr>
        <p:txBody>
          <a:bodyPr wrap="square" lIns="0" tIns="0" rIns="0" bIns="0" rtlCol="0" anchor="ctr"/>
          <a:lstStyle/>
          <a:p>
            <a:pPr indent="0" marL="0">
              <a:buNone/>
            </a:pPr>
            <a:r>
              <a:rPr lang="en-US" sz="1600" b="1" dirty="0">
                <a:solidFill>
                  <a:srgbClr val="FFFDF8"/>
                </a:solidFill>
                <a:latin typeface="Cambria" pitchFamily="34" charset="0"/>
                <a:ea typeface="Cambria" pitchFamily="34" charset="-122"/>
                <a:cs typeface="Cambria" pitchFamily="34" charset="-120"/>
              </a:rPr>
              <a:t>Middleman #1</a:t>
            </a:r>
            <a:endParaRPr lang="en-US" sz="1600" dirty="0"/>
          </a:p>
        </p:txBody>
      </p:sp>
      <p:sp>
        <p:nvSpPr>
          <p:cNvPr id="11" name="Text 9"/>
          <p:cNvSpPr txBox="1"/>
          <p:nvPr/>
        </p:nvSpPr>
        <p:spPr>
          <a:xfrm>
            <a:off x="3456432" y="2697480"/>
            <a:ext cx="2276856" cy="1051560"/>
          </a:xfrm>
          <a:prstGeom prst="rect">
            <a:avLst/>
          </a:prstGeom>
          <a:noFill/>
          <a:ln/>
        </p:spPr>
        <p:txBody>
          <a:bodyPr wrap="square" lIns="0" tIns="0" rIns="0" bIns="0" rtlCol="0" anchor="ctr"/>
          <a:lstStyle/>
          <a:p>
            <a:pPr indent="0" marL="0">
              <a:buNone/>
            </a:pPr>
            <a:r>
              <a:rPr lang="en-US" sz="1150" dirty="0">
                <a:solidFill>
                  <a:srgbClr val="FFFDF8"/>
                </a:solidFill>
                <a:latin typeface="Calibri" pitchFamily="34" charset="0"/>
                <a:ea typeface="Calibri" pitchFamily="34" charset="-122"/>
                <a:cs typeface="Calibri" pitchFamily="34" charset="-120"/>
              </a:rPr>
              <a:t>Aggregates from several farms, takes a mark-up</a:t>
            </a:r>
            <a:endParaRPr lang="en-US" sz="1150" dirty="0"/>
          </a:p>
        </p:txBody>
      </p:sp>
      <p:sp>
        <p:nvSpPr>
          <p:cNvPr id="12" name="Text 10"/>
          <p:cNvSpPr txBox="1"/>
          <p:nvPr/>
        </p:nvSpPr>
        <p:spPr>
          <a:xfrm>
            <a:off x="5897880" y="2606040"/>
            <a:ext cx="137160" cy="548640"/>
          </a:xfrm>
          <a:prstGeom prst="rect">
            <a:avLst/>
          </a:prstGeom>
          <a:noFill/>
          <a:ln/>
        </p:spPr>
        <p:txBody>
          <a:bodyPr wrap="square" lIns="0" tIns="0" rIns="0" bIns="0" rtlCol="0" anchor="ctr"/>
          <a:lstStyle/>
          <a:p>
            <a:pPr algn="ctr" indent="0" marL="0">
              <a:buNone/>
            </a:pPr>
            <a:r>
              <a:rPr lang="en-US" sz="2200" b="1" dirty="0">
                <a:solidFill>
                  <a:srgbClr val="262420"/>
                </a:solidFill>
              </a:rPr>
              <a:t>→</a:t>
            </a:r>
            <a:endParaRPr lang="en-US" sz="2200" dirty="0"/>
          </a:p>
        </p:txBody>
      </p:sp>
      <p:sp>
        <p:nvSpPr>
          <p:cNvPr id="13" name="Shape 11"/>
          <p:cNvSpPr/>
          <p:nvPr/>
        </p:nvSpPr>
        <p:spPr>
          <a:xfrm>
            <a:off x="6035040" y="2103120"/>
            <a:ext cx="2606040" cy="1737360"/>
          </a:xfrm>
          <a:prstGeom prst="roundRect">
            <a:avLst>
              <a:gd name="adj" fmla="val 4211"/>
            </a:avLst>
          </a:prstGeom>
          <a:solidFill>
            <a:srgbClr val="AC4B27"/>
          </a:solidFill>
          <a:ln/>
        </p:spPr>
      </p:sp>
      <p:sp>
        <p:nvSpPr>
          <p:cNvPr id="14" name="Text 12"/>
          <p:cNvSpPr txBox="1"/>
          <p:nvPr/>
        </p:nvSpPr>
        <p:spPr>
          <a:xfrm>
            <a:off x="6199632" y="2240280"/>
            <a:ext cx="2276856" cy="457200"/>
          </a:xfrm>
          <a:prstGeom prst="rect">
            <a:avLst/>
          </a:prstGeom>
          <a:noFill/>
          <a:ln/>
        </p:spPr>
        <p:txBody>
          <a:bodyPr wrap="square" lIns="0" tIns="0" rIns="0" bIns="0" rtlCol="0" anchor="ctr"/>
          <a:lstStyle/>
          <a:p>
            <a:pPr indent="0" marL="0">
              <a:buNone/>
            </a:pPr>
            <a:r>
              <a:rPr lang="en-US" sz="1600" b="1" dirty="0">
                <a:solidFill>
                  <a:srgbClr val="FFFDF8"/>
                </a:solidFill>
                <a:latin typeface="Cambria" pitchFamily="34" charset="0"/>
                <a:ea typeface="Cambria" pitchFamily="34" charset="-122"/>
                <a:cs typeface="Cambria" pitchFamily="34" charset="-120"/>
              </a:rPr>
              <a:t>Middleman #2</a:t>
            </a:r>
            <a:endParaRPr lang="en-US" sz="1600" dirty="0"/>
          </a:p>
        </p:txBody>
      </p:sp>
      <p:sp>
        <p:nvSpPr>
          <p:cNvPr id="15" name="Text 13"/>
          <p:cNvSpPr txBox="1"/>
          <p:nvPr/>
        </p:nvSpPr>
        <p:spPr>
          <a:xfrm>
            <a:off x="6199632" y="2697480"/>
            <a:ext cx="2276856" cy="1051560"/>
          </a:xfrm>
          <a:prstGeom prst="rect">
            <a:avLst/>
          </a:prstGeom>
          <a:noFill/>
          <a:ln/>
        </p:spPr>
        <p:txBody>
          <a:bodyPr wrap="square" lIns="0" tIns="0" rIns="0" bIns="0" rtlCol="0" anchor="ctr"/>
          <a:lstStyle/>
          <a:p>
            <a:pPr indent="0" marL="0">
              <a:buNone/>
            </a:pPr>
            <a:r>
              <a:rPr lang="en-US" sz="1150" dirty="0">
                <a:solidFill>
                  <a:srgbClr val="FFFDF8"/>
                </a:solidFill>
                <a:latin typeface="Calibri" pitchFamily="34" charset="0"/>
                <a:ea typeface="Calibri" pitchFamily="34" charset="-122"/>
                <a:cs typeface="Calibri" pitchFamily="34" charset="-120"/>
              </a:rPr>
              <a:t>Transports / resells again, takes another mark-up</a:t>
            </a:r>
            <a:endParaRPr lang="en-US" sz="1150" dirty="0"/>
          </a:p>
        </p:txBody>
      </p:sp>
      <p:sp>
        <p:nvSpPr>
          <p:cNvPr id="16" name="Text 14"/>
          <p:cNvSpPr txBox="1"/>
          <p:nvPr/>
        </p:nvSpPr>
        <p:spPr>
          <a:xfrm>
            <a:off x="8641080" y="2606040"/>
            <a:ext cx="137160" cy="548640"/>
          </a:xfrm>
          <a:prstGeom prst="rect">
            <a:avLst/>
          </a:prstGeom>
          <a:noFill/>
          <a:ln/>
        </p:spPr>
        <p:txBody>
          <a:bodyPr wrap="square" lIns="0" tIns="0" rIns="0" bIns="0" rtlCol="0" anchor="ctr"/>
          <a:lstStyle/>
          <a:p>
            <a:pPr algn="ctr" indent="0" marL="0">
              <a:buNone/>
            </a:pPr>
            <a:r>
              <a:rPr lang="en-US" sz="2200" b="1" dirty="0">
                <a:solidFill>
                  <a:srgbClr val="262420"/>
                </a:solidFill>
              </a:rPr>
              <a:t>→</a:t>
            </a:r>
            <a:endParaRPr lang="en-US" sz="2200" dirty="0"/>
          </a:p>
        </p:txBody>
      </p:sp>
      <p:sp>
        <p:nvSpPr>
          <p:cNvPr id="17" name="Shape 15"/>
          <p:cNvSpPr/>
          <p:nvPr/>
        </p:nvSpPr>
        <p:spPr>
          <a:xfrm>
            <a:off x="8778240" y="2103120"/>
            <a:ext cx="2606040" cy="1737360"/>
          </a:xfrm>
          <a:prstGeom prst="roundRect">
            <a:avLst>
              <a:gd name="adj" fmla="val 4211"/>
            </a:avLst>
          </a:prstGeom>
          <a:solidFill>
            <a:srgbClr val="45573A"/>
          </a:solidFill>
          <a:ln/>
        </p:spPr>
      </p:sp>
      <p:sp>
        <p:nvSpPr>
          <p:cNvPr id="18" name="Text 16"/>
          <p:cNvSpPr txBox="1"/>
          <p:nvPr/>
        </p:nvSpPr>
        <p:spPr>
          <a:xfrm>
            <a:off x="8942832" y="2240280"/>
            <a:ext cx="2276856" cy="457200"/>
          </a:xfrm>
          <a:prstGeom prst="rect">
            <a:avLst/>
          </a:prstGeom>
          <a:noFill/>
          <a:ln/>
        </p:spPr>
        <p:txBody>
          <a:bodyPr wrap="square" lIns="0" tIns="0" rIns="0" bIns="0" rtlCol="0" anchor="ctr"/>
          <a:lstStyle/>
          <a:p>
            <a:pPr indent="0" marL="0">
              <a:buNone/>
            </a:pPr>
            <a:r>
              <a:rPr lang="en-US" sz="1600" b="1" dirty="0">
                <a:solidFill>
                  <a:srgbClr val="FFFDF8"/>
                </a:solidFill>
                <a:latin typeface="Cambria" pitchFamily="34" charset="0"/>
                <a:ea typeface="Cambria" pitchFamily="34" charset="-122"/>
                <a:cs typeface="Cambria" pitchFamily="34" charset="-120"/>
              </a:rPr>
              <a:t>Wholesale buyer</a:t>
            </a:r>
            <a:endParaRPr lang="en-US" sz="1600" dirty="0"/>
          </a:p>
        </p:txBody>
      </p:sp>
      <p:sp>
        <p:nvSpPr>
          <p:cNvPr id="19" name="Text 17"/>
          <p:cNvSpPr txBox="1"/>
          <p:nvPr/>
        </p:nvSpPr>
        <p:spPr>
          <a:xfrm>
            <a:off x="8942832" y="2697480"/>
            <a:ext cx="2276856" cy="1051560"/>
          </a:xfrm>
          <a:prstGeom prst="rect">
            <a:avLst/>
          </a:prstGeom>
          <a:noFill/>
          <a:ln/>
        </p:spPr>
        <p:txBody>
          <a:bodyPr wrap="square" lIns="0" tIns="0" rIns="0" bIns="0" rtlCol="0" anchor="ctr"/>
          <a:lstStyle/>
          <a:p>
            <a:pPr indent="0" marL="0">
              <a:buNone/>
            </a:pPr>
            <a:r>
              <a:rPr lang="en-US" sz="1150" dirty="0">
                <a:solidFill>
                  <a:srgbClr val="FFFDF8"/>
                </a:solidFill>
                <a:latin typeface="Calibri" pitchFamily="34" charset="0"/>
                <a:ea typeface="Calibri" pitchFamily="34" charset="-122"/>
                <a:cs typeface="Calibri" pitchFamily="34" charset="-120"/>
              </a:rPr>
              <a:t>Finally receives stock — at a marked-up price, with little visibility into where it came from</a:t>
            </a:r>
            <a:endParaRPr lang="en-US" sz="1150" dirty="0"/>
          </a:p>
        </p:txBody>
      </p:sp>
      <p:sp>
        <p:nvSpPr>
          <p:cNvPr id="20" name="Text 18"/>
          <p:cNvSpPr txBox="1"/>
          <p:nvPr/>
        </p:nvSpPr>
        <p:spPr>
          <a:xfrm>
            <a:off x="548640" y="4206240"/>
            <a:ext cx="10515600" cy="1005840"/>
          </a:xfrm>
          <a:prstGeom prst="rect">
            <a:avLst/>
          </a:prstGeom>
          <a:noFill/>
          <a:ln/>
        </p:spPr>
        <p:txBody>
          <a:bodyPr wrap="square" lIns="0" tIns="0" rIns="0" bIns="0" rtlCol="0" anchor="ctr"/>
          <a:lstStyle/>
          <a:p>
            <a:pPr indent="0" marL="0">
              <a:buNone/>
            </a:pPr>
            <a:r>
              <a:rPr lang="en-US" sz="1500" i="1" dirty="0">
                <a:solidFill>
                  <a:srgbClr val="262420"/>
                </a:solidFill>
                <a:latin typeface="Calibri" pitchFamily="34" charset="0"/>
                <a:ea typeface="Calibri" pitchFamily="34" charset="-122"/>
                <a:cs typeface="Calibri" pitchFamily="34" charset="-120"/>
              </a:rPr>
              <a:t>Research on smallholder market access across Sub-Saharan Africa consistently finds that farm-gate sale to an intermediary remains the dominant channel — not because it's the best price, but because farmers lack storage, transport, and direct buyer information.</a:t>
            </a:r>
            <a:endParaRPr lang="en-US" sz="1500" dirty="0"/>
          </a:p>
        </p:txBody>
      </p:sp>
      <p:sp>
        <p:nvSpPr>
          <p:cNvPr id="21" name="Text 19"/>
          <p:cNvSpPr txBox="1"/>
          <p:nvPr/>
        </p:nvSpPr>
        <p:spPr>
          <a:xfrm>
            <a:off x="548640" y="6492240"/>
            <a:ext cx="3657600" cy="274320"/>
          </a:xfrm>
          <a:prstGeom prst="rect">
            <a:avLst/>
          </a:prstGeom>
          <a:noFill/>
          <a:ln/>
        </p:spPr>
        <p:txBody>
          <a:bodyPr wrap="square" lIns="0" tIns="0" rIns="0" bIns="0" rtlCol="0" anchor="ctr"/>
          <a:lstStyle/>
          <a:p>
            <a:pPr indent="0" marL="0">
              <a:buNone/>
            </a:pPr>
            <a:r>
              <a:rPr lang="en-US" sz="1000" dirty="0">
                <a:solidFill>
                  <a:srgbClr val="8A8474"/>
                </a:solidFill>
                <a:latin typeface="Calibri" pitchFamily="34" charset="0"/>
                <a:ea typeface="Calibri" pitchFamily="34" charset="-122"/>
                <a:cs typeface="Calibri" pitchFamily="34" charset="-120"/>
              </a:rPr>
              <a:t>PoultryConnect</a:t>
            </a:r>
            <a:endParaRPr lang="en-US" sz="1000" dirty="0"/>
          </a:p>
        </p:txBody>
      </p:sp>
      <p:sp>
        <p:nvSpPr>
          <p:cNvPr id="22" name="Text 20"/>
          <p:cNvSpPr txBox="1"/>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8A847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3"/>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400" b="1" dirty="0">
                <a:solidFill>
                  <a:srgbClr val="AC4B27"/>
                </a:solidFill>
                <a:latin typeface="Calibri" pitchFamily="34" charset="0"/>
                <a:ea typeface="Calibri" pitchFamily="34" charset="-122"/>
                <a:cs typeface="Calibri" pitchFamily="34" charset="-120"/>
              </a:rPr>
              <a:t>RESEARCH JUSTIFICATION</a:t>
            </a:r>
            <a:endParaRPr lang="en-US" sz="14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262420"/>
                </a:solidFill>
                <a:latin typeface="Cambria" pitchFamily="34" charset="0"/>
                <a:ea typeface="Cambria" pitchFamily="34" charset="-122"/>
                <a:cs typeface="Cambria" pitchFamily="34" charset="-120"/>
              </a:rPr>
              <a:t>Poultry specifically shows the same pattern</a:t>
            </a:r>
            <a:endParaRPr lang="en-US" sz="3200" dirty="0"/>
          </a:p>
        </p:txBody>
      </p:sp>
      <p:sp>
        <p:nvSpPr>
          <p:cNvPr id="4" name="Shape 2"/>
          <p:cNvSpPr/>
          <p:nvPr/>
        </p:nvSpPr>
        <p:spPr>
          <a:xfrm>
            <a:off x="548640" y="1600200"/>
            <a:ext cx="2011680" cy="41148"/>
          </a:xfrm>
          <a:prstGeom prst="rect">
            <a:avLst/>
          </a:prstGeom>
          <a:solidFill>
            <a:srgbClr val="AC4B27"/>
          </a:solidFill>
          <a:ln/>
        </p:spPr>
      </p:sp>
      <p:sp>
        <p:nvSpPr>
          <p:cNvPr id="5" name="Shape 3"/>
          <p:cNvSpPr/>
          <p:nvPr/>
        </p:nvSpPr>
        <p:spPr>
          <a:xfrm>
            <a:off x="548640" y="2011680"/>
            <a:ext cx="54864" cy="960120"/>
          </a:xfrm>
          <a:prstGeom prst="rect">
            <a:avLst/>
          </a:prstGeom>
          <a:solidFill>
            <a:srgbClr val="45573A"/>
          </a:solidFill>
          <a:ln/>
        </p:spPr>
      </p:sp>
      <p:sp>
        <p:nvSpPr>
          <p:cNvPr id="6" name="Text 4"/>
          <p:cNvSpPr txBox="1"/>
          <p:nvPr/>
        </p:nvSpPr>
        <p:spPr>
          <a:xfrm>
            <a:off x="868680" y="1965960"/>
            <a:ext cx="10241280" cy="1097280"/>
          </a:xfrm>
          <a:prstGeom prst="rect">
            <a:avLst/>
          </a:prstGeom>
          <a:noFill/>
          <a:ln/>
        </p:spPr>
        <p:txBody>
          <a:bodyPr wrap="square" lIns="0" tIns="0" rIns="0" bIns="0" rtlCol="0" anchor="t"/>
          <a:lstStyle/>
          <a:p>
            <a:pPr indent="0" marL="0">
              <a:buNone/>
            </a:pPr>
            <a:r>
              <a:rPr lang="en-US" sz="1550" dirty="0">
                <a:solidFill>
                  <a:srgbClr val="262420"/>
                </a:solidFill>
                <a:latin typeface="Calibri" pitchFamily="34" charset="0"/>
                <a:ea typeface="Calibri" pitchFamily="34" charset="-122"/>
                <a:cs typeface="Calibri" pitchFamily="34" charset="-120"/>
              </a:rPr>
              <a:t>Technical value-chain studies describe fragmented small-scale broiler and indigenous-chicken supply chains running through several intermediaries before reaching urban markets.</a:t>
            </a:r>
            <a:endParaRPr lang="en-US" sz="1550" dirty="0"/>
          </a:p>
        </p:txBody>
      </p:sp>
      <p:sp>
        <p:nvSpPr>
          <p:cNvPr id="7" name="Shape 5"/>
          <p:cNvSpPr/>
          <p:nvPr/>
        </p:nvSpPr>
        <p:spPr>
          <a:xfrm>
            <a:off x="548640" y="3246120"/>
            <a:ext cx="54864" cy="960120"/>
          </a:xfrm>
          <a:prstGeom prst="rect">
            <a:avLst/>
          </a:prstGeom>
          <a:solidFill>
            <a:srgbClr val="45573A"/>
          </a:solidFill>
          <a:ln/>
        </p:spPr>
      </p:sp>
      <p:sp>
        <p:nvSpPr>
          <p:cNvPr id="8" name="Text 6"/>
          <p:cNvSpPr txBox="1"/>
          <p:nvPr/>
        </p:nvSpPr>
        <p:spPr>
          <a:xfrm>
            <a:off x="868680" y="3200400"/>
            <a:ext cx="10241280" cy="1097280"/>
          </a:xfrm>
          <a:prstGeom prst="rect">
            <a:avLst/>
          </a:prstGeom>
          <a:noFill/>
          <a:ln/>
        </p:spPr>
        <p:txBody>
          <a:bodyPr wrap="square" lIns="0" tIns="0" rIns="0" bIns="0" rtlCol="0" anchor="t"/>
          <a:lstStyle/>
          <a:p>
            <a:pPr indent="0" marL="0">
              <a:buNone/>
            </a:pPr>
            <a:r>
              <a:rPr lang="en-US" sz="1550" dirty="0">
                <a:solidFill>
                  <a:srgbClr val="262420"/>
                </a:solidFill>
                <a:latin typeface="Calibri" pitchFamily="34" charset="0"/>
                <a:ea typeface="Calibri" pitchFamily="34" charset="-122"/>
                <a:cs typeface="Calibri" pitchFamily="34" charset="-120"/>
              </a:rPr>
              <a:t>The large majority of birds in many developing-market poultry sectors are still raised in small, backyard-type operations — precisely the population a low-cost digital channel would help most.</a:t>
            </a:r>
            <a:endParaRPr lang="en-US" sz="1550" dirty="0"/>
          </a:p>
        </p:txBody>
      </p:sp>
      <p:sp>
        <p:nvSpPr>
          <p:cNvPr id="9" name="Shape 7"/>
          <p:cNvSpPr/>
          <p:nvPr/>
        </p:nvSpPr>
        <p:spPr>
          <a:xfrm>
            <a:off x="548640" y="4480560"/>
            <a:ext cx="54864" cy="960120"/>
          </a:xfrm>
          <a:prstGeom prst="rect">
            <a:avLst/>
          </a:prstGeom>
          <a:solidFill>
            <a:srgbClr val="45573A"/>
          </a:solidFill>
          <a:ln/>
        </p:spPr>
      </p:sp>
      <p:sp>
        <p:nvSpPr>
          <p:cNvPr id="10" name="Text 8"/>
          <p:cNvSpPr txBox="1"/>
          <p:nvPr/>
        </p:nvSpPr>
        <p:spPr>
          <a:xfrm>
            <a:off x="868680" y="4434840"/>
            <a:ext cx="10241280" cy="1097280"/>
          </a:xfrm>
          <a:prstGeom prst="rect">
            <a:avLst/>
          </a:prstGeom>
          <a:noFill/>
          <a:ln/>
        </p:spPr>
        <p:txBody>
          <a:bodyPr wrap="square" lIns="0" tIns="0" rIns="0" bIns="0" rtlCol="0" anchor="t"/>
          <a:lstStyle/>
          <a:p>
            <a:pPr indent="0" marL="0">
              <a:buNone/>
            </a:pPr>
            <a:r>
              <a:rPr lang="en-US" sz="1550" dirty="0">
                <a:solidFill>
                  <a:srgbClr val="262420"/>
                </a:solidFill>
                <a:latin typeface="Calibri" pitchFamily="34" charset="0"/>
                <a:ea typeface="Calibri" pitchFamily="34" charset="-122"/>
                <a:cs typeface="Calibri" pitchFamily="34" charset="-120"/>
              </a:rPr>
              <a:t>Government and NGO responses — national market-information hotlines, SMS/voice commodity-price services — confirm that information asymmetry, not lack of produce, is the recognised barrier.</a:t>
            </a:r>
            <a:endParaRPr lang="en-US" sz="1550" dirty="0"/>
          </a:p>
        </p:txBody>
      </p:sp>
      <p:sp>
        <p:nvSpPr>
          <p:cNvPr id="11" name="Text 9"/>
          <p:cNvSpPr txBox="1"/>
          <p:nvPr/>
        </p:nvSpPr>
        <p:spPr>
          <a:xfrm>
            <a:off x="548640" y="6492240"/>
            <a:ext cx="3657600" cy="274320"/>
          </a:xfrm>
          <a:prstGeom prst="rect">
            <a:avLst/>
          </a:prstGeom>
          <a:noFill/>
          <a:ln/>
        </p:spPr>
        <p:txBody>
          <a:bodyPr wrap="square" lIns="0" tIns="0" rIns="0" bIns="0" rtlCol="0" anchor="ctr"/>
          <a:lstStyle/>
          <a:p>
            <a:pPr indent="0" marL="0">
              <a:buNone/>
            </a:pPr>
            <a:r>
              <a:rPr lang="en-US" sz="1000" dirty="0">
                <a:solidFill>
                  <a:srgbClr val="8A8474"/>
                </a:solidFill>
                <a:latin typeface="Calibri" pitchFamily="34" charset="0"/>
                <a:ea typeface="Calibri" pitchFamily="34" charset="-122"/>
                <a:cs typeface="Calibri" pitchFamily="34" charset="-120"/>
              </a:rPr>
              <a:t>PoultryConnect</a:t>
            </a:r>
            <a:endParaRPr lang="en-US" sz="1000" dirty="0"/>
          </a:p>
        </p:txBody>
      </p:sp>
      <p:sp>
        <p:nvSpPr>
          <p:cNvPr id="12" name="Text 10"/>
          <p:cNvSpPr txBox="1"/>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8A847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62420"/>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400" b="1" dirty="0">
                <a:solidFill>
                  <a:srgbClr val="E4C878"/>
                </a:solidFill>
                <a:latin typeface="Calibri" pitchFamily="34" charset="0"/>
                <a:ea typeface="Calibri" pitchFamily="34" charset="-122"/>
                <a:cs typeface="Calibri" pitchFamily="34" charset="-120"/>
              </a:rPr>
              <a:t>THE SOLUTION</a:t>
            </a:r>
            <a:endParaRPr lang="en-US" sz="1400" dirty="0"/>
          </a:p>
        </p:txBody>
      </p:sp>
      <p:sp>
        <p:nvSpPr>
          <p:cNvPr id="3" name="Text 1"/>
          <p:cNvSpPr txBox="1"/>
          <p:nvPr/>
        </p:nvSpPr>
        <p:spPr>
          <a:xfrm>
            <a:off x="548640" y="685800"/>
            <a:ext cx="10972800" cy="822960"/>
          </a:xfrm>
          <a:prstGeom prst="rect">
            <a:avLst/>
          </a:prstGeom>
          <a:noFill/>
          <a:ln/>
        </p:spPr>
        <p:txBody>
          <a:bodyPr wrap="square" lIns="0" tIns="0" rIns="0" bIns="0" rtlCol="0" anchor="ctr"/>
          <a:lstStyle/>
          <a:p>
            <a:pPr indent="0" marL="0">
              <a:buNone/>
            </a:pPr>
            <a:r>
              <a:rPr lang="en-US" sz="3200" b="1" dirty="0">
                <a:solidFill>
                  <a:srgbClr val="FFFDF8"/>
                </a:solidFill>
                <a:latin typeface="Cambria" pitchFamily="34" charset="0"/>
                <a:ea typeface="Cambria" pitchFamily="34" charset="-122"/>
                <a:cs typeface="Cambria" pitchFamily="34" charset="-120"/>
              </a:rPr>
              <a:t>A narrow, two-sided marketplace — not a bloated e-commerce platform</a:t>
            </a:r>
            <a:endParaRPr lang="en-US" sz="3200" dirty="0"/>
          </a:p>
        </p:txBody>
      </p:sp>
      <p:sp>
        <p:nvSpPr>
          <p:cNvPr id="4" name="Shape 2"/>
          <p:cNvSpPr/>
          <p:nvPr/>
        </p:nvSpPr>
        <p:spPr>
          <a:xfrm>
            <a:off x="822960" y="1920240"/>
            <a:ext cx="5120640" cy="3291840"/>
          </a:xfrm>
          <a:prstGeom prst="roundRect">
            <a:avLst>
              <a:gd name="adj" fmla="val 1667"/>
            </a:avLst>
          </a:prstGeom>
          <a:solidFill>
            <a:srgbClr val="45573A"/>
          </a:solidFill>
          <a:ln/>
        </p:spPr>
      </p:sp>
      <p:sp>
        <p:nvSpPr>
          <p:cNvPr id="5" name="Text 3"/>
          <p:cNvSpPr txBox="1"/>
          <p:nvPr/>
        </p:nvSpPr>
        <p:spPr>
          <a:xfrm>
            <a:off x="1143000" y="2148840"/>
            <a:ext cx="4572000" cy="457200"/>
          </a:xfrm>
          <a:prstGeom prst="rect">
            <a:avLst/>
          </a:prstGeom>
          <a:noFill/>
          <a:ln/>
        </p:spPr>
        <p:txBody>
          <a:bodyPr wrap="square" lIns="0" tIns="0" rIns="0" bIns="0" rtlCol="0" anchor="ctr"/>
          <a:lstStyle/>
          <a:p>
            <a:pPr indent="0" marL="0">
              <a:buNone/>
            </a:pPr>
            <a:r>
              <a:rPr lang="en-US" sz="2200" b="1" dirty="0">
                <a:solidFill>
                  <a:srgbClr val="FFFDF8"/>
                </a:solidFill>
                <a:latin typeface="Cambria" pitchFamily="34" charset="0"/>
                <a:ea typeface="Cambria" pitchFamily="34" charset="-122"/>
                <a:cs typeface="Cambria" pitchFamily="34" charset="-120"/>
              </a:rPr>
              <a:t>Farmers</a:t>
            </a:r>
            <a:endParaRPr lang="en-US" sz="2200" dirty="0"/>
          </a:p>
        </p:txBody>
      </p:sp>
      <p:sp>
        <p:nvSpPr>
          <p:cNvPr id="6" name="Text 4"/>
          <p:cNvSpPr txBox="1"/>
          <p:nvPr/>
        </p:nvSpPr>
        <p:spPr>
          <a:xfrm>
            <a:off x="1143000" y="2788920"/>
            <a:ext cx="4572000" cy="548640"/>
          </a:xfrm>
          <a:prstGeom prst="rect">
            <a:avLst/>
          </a:prstGeom>
          <a:noFill/>
          <a:ln/>
        </p:spPr>
        <p:txBody>
          <a:bodyPr wrap="square" lIns="0" tIns="0" rIns="0" bIns="0" rtlCol="0" anchor="ctr"/>
          <a:lstStyle/>
          <a:p>
            <a:pPr marL="342900" indent="-342900">
              <a:buSzPct val="100000"/>
              <a:buChar char="•"/>
            </a:pPr>
            <a:r>
              <a:rPr lang="en-US" sz="1450" dirty="0">
                <a:solidFill>
                  <a:srgbClr val="FFFDF8"/>
                </a:solidFill>
                <a:latin typeface="Calibri" pitchFamily="34" charset="0"/>
                <a:ea typeface="Calibri" pitchFamily="34" charset="-122"/>
                <a:cs typeface="Calibri" pitchFamily="34" charset="-120"/>
              </a:rPr>
              <a:t>Register and list available stock</a:t>
            </a:r>
            <a:endParaRPr lang="en-US" sz="1450" dirty="0"/>
          </a:p>
        </p:txBody>
      </p:sp>
      <p:sp>
        <p:nvSpPr>
          <p:cNvPr id="7" name="Text 5"/>
          <p:cNvSpPr txBox="1"/>
          <p:nvPr/>
        </p:nvSpPr>
        <p:spPr>
          <a:xfrm>
            <a:off x="1143000" y="3410712"/>
            <a:ext cx="4572000" cy="548640"/>
          </a:xfrm>
          <a:prstGeom prst="rect">
            <a:avLst/>
          </a:prstGeom>
          <a:noFill/>
          <a:ln/>
        </p:spPr>
        <p:txBody>
          <a:bodyPr wrap="square" lIns="0" tIns="0" rIns="0" bIns="0" rtlCol="0" anchor="ctr"/>
          <a:lstStyle/>
          <a:p>
            <a:pPr marL="342900" indent="-342900">
              <a:buSzPct val="100000"/>
              <a:buChar char="•"/>
            </a:pPr>
            <a:r>
              <a:rPr lang="en-US" sz="1450" dirty="0">
                <a:solidFill>
                  <a:srgbClr val="FFFDF8"/>
                </a:solidFill>
                <a:latin typeface="Calibri" pitchFamily="34" charset="0"/>
                <a:ea typeface="Calibri" pitchFamily="34" charset="-122"/>
                <a:cs typeface="Calibri" pitchFamily="34" charset="-120"/>
              </a:rPr>
              <a:t>Set poultry type, quantity, price, location</a:t>
            </a:r>
            <a:endParaRPr lang="en-US" sz="1450" dirty="0"/>
          </a:p>
        </p:txBody>
      </p:sp>
      <p:sp>
        <p:nvSpPr>
          <p:cNvPr id="8" name="Text 6"/>
          <p:cNvSpPr txBox="1"/>
          <p:nvPr/>
        </p:nvSpPr>
        <p:spPr>
          <a:xfrm>
            <a:off x="1143000" y="4032504"/>
            <a:ext cx="4572000" cy="548640"/>
          </a:xfrm>
          <a:prstGeom prst="rect">
            <a:avLst/>
          </a:prstGeom>
          <a:noFill/>
          <a:ln/>
        </p:spPr>
        <p:txBody>
          <a:bodyPr wrap="square" lIns="0" tIns="0" rIns="0" bIns="0" rtlCol="0" anchor="ctr"/>
          <a:lstStyle/>
          <a:p>
            <a:pPr marL="342900" indent="-342900">
              <a:buSzPct val="100000"/>
              <a:buChar char="•"/>
            </a:pPr>
            <a:r>
              <a:rPr lang="en-US" sz="1450" dirty="0">
                <a:solidFill>
                  <a:srgbClr val="FFFDF8"/>
                </a:solidFill>
                <a:latin typeface="Calibri" pitchFamily="34" charset="0"/>
                <a:ea typeface="Calibri" pitchFamily="34" charset="-122"/>
                <a:cs typeface="Calibri" pitchFamily="34" charset="-120"/>
              </a:rPr>
              <a:t>Manage orders: accept, reject, complete</a:t>
            </a:r>
            <a:endParaRPr lang="en-US" sz="1450" dirty="0"/>
          </a:p>
        </p:txBody>
      </p:sp>
      <p:sp>
        <p:nvSpPr>
          <p:cNvPr id="9" name="Shape 7"/>
          <p:cNvSpPr/>
          <p:nvPr/>
        </p:nvSpPr>
        <p:spPr>
          <a:xfrm>
            <a:off x="6309360" y="1920240"/>
            <a:ext cx="5120640" cy="3291840"/>
          </a:xfrm>
          <a:prstGeom prst="roundRect">
            <a:avLst>
              <a:gd name="adj" fmla="val 1667"/>
            </a:avLst>
          </a:prstGeom>
          <a:solidFill>
            <a:srgbClr val="AC4B27"/>
          </a:solidFill>
          <a:ln/>
        </p:spPr>
      </p:sp>
      <p:sp>
        <p:nvSpPr>
          <p:cNvPr id="10" name="Text 8"/>
          <p:cNvSpPr txBox="1"/>
          <p:nvPr/>
        </p:nvSpPr>
        <p:spPr>
          <a:xfrm>
            <a:off x="6629400" y="2148840"/>
            <a:ext cx="4572000" cy="457200"/>
          </a:xfrm>
          <a:prstGeom prst="rect">
            <a:avLst/>
          </a:prstGeom>
          <a:noFill/>
          <a:ln/>
        </p:spPr>
        <p:txBody>
          <a:bodyPr wrap="square" lIns="0" tIns="0" rIns="0" bIns="0" rtlCol="0" anchor="ctr"/>
          <a:lstStyle/>
          <a:p>
            <a:pPr indent="0" marL="0">
              <a:buNone/>
            </a:pPr>
            <a:r>
              <a:rPr lang="en-US" sz="2200" b="1" dirty="0">
                <a:solidFill>
                  <a:srgbClr val="FFFDF8"/>
                </a:solidFill>
                <a:latin typeface="Cambria" pitchFamily="34" charset="0"/>
                <a:ea typeface="Cambria" pitchFamily="34" charset="-122"/>
                <a:cs typeface="Cambria" pitchFamily="34" charset="-120"/>
              </a:rPr>
              <a:t>Wholesale buyers</a:t>
            </a:r>
            <a:endParaRPr lang="en-US" sz="2200" dirty="0"/>
          </a:p>
        </p:txBody>
      </p:sp>
      <p:sp>
        <p:nvSpPr>
          <p:cNvPr id="11" name="Text 9"/>
          <p:cNvSpPr txBox="1"/>
          <p:nvPr/>
        </p:nvSpPr>
        <p:spPr>
          <a:xfrm>
            <a:off x="6629400" y="2788920"/>
            <a:ext cx="4572000" cy="548640"/>
          </a:xfrm>
          <a:prstGeom prst="rect">
            <a:avLst/>
          </a:prstGeom>
          <a:noFill/>
          <a:ln/>
        </p:spPr>
        <p:txBody>
          <a:bodyPr wrap="square" lIns="0" tIns="0" rIns="0" bIns="0" rtlCol="0" anchor="ctr"/>
          <a:lstStyle/>
          <a:p>
            <a:pPr marL="342900" indent="-342900">
              <a:buSzPct val="100000"/>
              <a:buChar char="•"/>
            </a:pPr>
            <a:r>
              <a:rPr lang="en-US" sz="1450" dirty="0">
                <a:solidFill>
                  <a:srgbClr val="FFFDF8"/>
                </a:solidFill>
                <a:latin typeface="Calibri" pitchFamily="34" charset="0"/>
                <a:ea typeface="Calibri" pitchFamily="34" charset="-122"/>
                <a:cs typeface="Calibri" pitchFamily="34" charset="-120"/>
              </a:rPr>
              <a:t>Browse and filter live listings</a:t>
            </a:r>
            <a:endParaRPr lang="en-US" sz="1450" dirty="0"/>
          </a:p>
        </p:txBody>
      </p:sp>
      <p:sp>
        <p:nvSpPr>
          <p:cNvPr id="12" name="Text 10"/>
          <p:cNvSpPr txBox="1"/>
          <p:nvPr/>
        </p:nvSpPr>
        <p:spPr>
          <a:xfrm>
            <a:off x="6629400" y="3410712"/>
            <a:ext cx="4572000" cy="548640"/>
          </a:xfrm>
          <a:prstGeom prst="rect">
            <a:avLst/>
          </a:prstGeom>
          <a:noFill/>
          <a:ln/>
        </p:spPr>
        <p:txBody>
          <a:bodyPr wrap="square" lIns="0" tIns="0" rIns="0" bIns="0" rtlCol="0" anchor="ctr"/>
          <a:lstStyle/>
          <a:p>
            <a:pPr marL="342900" indent="-342900">
              <a:buSzPct val="100000"/>
              <a:buChar char="•"/>
            </a:pPr>
            <a:r>
              <a:rPr lang="en-US" sz="1450" dirty="0">
                <a:solidFill>
                  <a:srgbClr val="FFFDF8"/>
                </a:solidFill>
                <a:latin typeface="Calibri" pitchFamily="34" charset="0"/>
                <a:ea typeface="Calibri" pitchFamily="34" charset="-122"/>
                <a:cs typeface="Calibri" pitchFamily="34" charset="-120"/>
              </a:rPr>
              <a:t>View farmer contact details directly</a:t>
            </a:r>
            <a:endParaRPr lang="en-US" sz="1450" dirty="0"/>
          </a:p>
        </p:txBody>
      </p:sp>
      <p:sp>
        <p:nvSpPr>
          <p:cNvPr id="13" name="Text 11"/>
          <p:cNvSpPr txBox="1"/>
          <p:nvPr/>
        </p:nvSpPr>
        <p:spPr>
          <a:xfrm>
            <a:off x="6629400" y="4032504"/>
            <a:ext cx="4572000" cy="548640"/>
          </a:xfrm>
          <a:prstGeom prst="rect">
            <a:avLst/>
          </a:prstGeom>
          <a:noFill/>
          <a:ln/>
        </p:spPr>
        <p:txBody>
          <a:bodyPr wrap="square" lIns="0" tIns="0" rIns="0" bIns="0" rtlCol="0" anchor="ctr"/>
          <a:lstStyle/>
          <a:p>
            <a:pPr marL="342900" indent="-342900">
              <a:buSzPct val="100000"/>
              <a:buChar char="•"/>
            </a:pPr>
            <a:r>
              <a:rPr lang="en-US" sz="1450" dirty="0">
                <a:solidFill>
                  <a:srgbClr val="FFFDF8"/>
                </a:solidFill>
                <a:latin typeface="Calibri" pitchFamily="34" charset="0"/>
                <a:ea typeface="Calibri" pitchFamily="34" charset="-122"/>
                <a:cs typeface="Calibri" pitchFamily="34" charset="-120"/>
              </a:rPr>
              <a:t>Place an order and track its status</a:t>
            </a:r>
            <a:endParaRPr lang="en-US" sz="1450" dirty="0"/>
          </a:p>
        </p:txBody>
      </p:sp>
      <p:sp>
        <p:nvSpPr>
          <p:cNvPr id="14" name="Text 12"/>
          <p:cNvSpPr txBox="1"/>
          <p:nvPr/>
        </p:nvSpPr>
        <p:spPr>
          <a:xfrm>
            <a:off x="822960" y="5486400"/>
            <a:ext cx="10515600" cy="731520"/>
          </a:xfrm>
          <a:prstGeom prst="rect">
            <a:avLst/>
          </a:prstGeom>
          <a:noFill/>
          <a:ln/>
        </p:spPr>
        <p:txBody>
          <a:bodyPr wrap="square" lIns="0" tIns="0" rIns="0" bIns="0" rtlCol="0" anchor="ctr"/>
          <a:lstStyle/>
          <a:p>
            <a:pPr indent="0" marL="0">
              <a:buNone/>
            </a:pPr>
            <a:r>
              <a:rPr lang="en-US" sz="1350" i="1" dirty="0">
                <a:solidFill>
                  <a:srgbClr val="CFC9B7"/>
                </a:solidFill>
                <a:latin typeface="Calibri" pitchFamily="34" charset="0"/>
                <a:ea typeface="Calibri" pitchFamily="34" charset="-122"/>
                <a:cs typeface="Calibri" pitchFamily="34" charset="-120"/>
              </a:rPr>
              <a:t>Deliberately excluded from this version: payments, logistics, reviews — kept out so engineering effort stays on the cloud-architecture fundamentals the module assesses.</a:t>
            </a:r>
            <a:endParaRPr lang="en-US" sz="1350" dirty="0"/>
          </a:p>
        </p:txBody>
      </p:sp>
      <p:sp>
        <p:nvSpPr>
          <p:cNvPr id="15" name="Text 13"/>
          <p:cNvSpPr txBox="1"/>
          <p:nvPr/>
        </p:nvSpPr>
        <p:spPr>
          <a:xfrm>
            <a:off x="548640" y="6492240"/>
            <a:ext cx="3657600" cy="274320"/>
          </a:xfrm>
          <a:prstGeom prst="rect">
            <a:avLst/>
          </a:prstGeom>
          <a:noFill/>
          <a:ln/>
        </p:spPr>
        <p:txBody>
          <a:bodyPr wrap="square" lIns="0" tIns="0" rIns="0" bIns="0" rtlCol="0" anchor="ctr"/>
          <a:lstStyle/>
          <a:p>
            <a:pPr indent="0" marL="0">
              <a:buNone/>
            </a:pPr>
            <a:r>
              <a:rPr lang="en-US" sz="1000" dirty="0">
                <a:solidFill>
                  <a:srgbClr val="8A8474"/>
                </a:solidFill>
                <a:latin typeface="Calibri" pitchFamily="34" charset="0"/>
                <a:ea typeface="Calibri" pitchFamily="34" charset="-122"/>
                <a:cs typeface="Calibri" pitchFamily="34" charset="-120"/>
              </a:rPr>
              <a:t>PoultryConnect</a:t>
            </a:r>
            <a:endParaRPr lang="en-US" sz="1000" dirty="0"/>
          </a:p>
        </p:txBody>
      </p:sp>
      <p:sp>
        <p:nvSpPr>
          <p:cNvPr id="16" name="Text 14"/>
          <p:cNvSpPr txBox="1"/>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8A847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3"/>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400" b="1" dirty="0">
                <a:solidFill>
                  <a:srgbClr val="AC4B27"/>
                </a:solidFill>
                <a:latin typeface="Calibri" pitchFamily="34" charset="0"/>
                <a:ea typeface="Calibri" pitchFamily="34" charset="-122"/>
                <a:cs typeface="Calibri" pitchFamily="34" charset="-120"/>
              </a:rPr>
              <a:t>SYSTEM ARCHITECTURE</a:t>
            </a:r>
            <a:endParaRPr lang="en-US" sz="14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262420"/>
                </a:solidFill>
                <a:latin typeface="Cambria" pitchFamily="34" charset="0"/>
                <a:ea typeface="Cambria" pitchFamily="34" charset="-122"/>
                <a:cs typeface="Cambria" pitchFamily="34" charset="-120"/>
              </a:rPr>
              <a:t>Three tiers, deployed and scaled independently</a:t>
            </a:r>
            <a:endParaRPr lang="en-US" sz="3200" dirty="0"/>
          </a:p>
        </p:txBody>
      </p:sp>
      <p:sp>
        <p:nvSpPr>
          <p:cNvPr id="4" name="Shape 2"/>
          <p:cNvSpPr/>
          <p:nvPr/>
        </p:nvSpPr>
        <p:spPr>
          <a:xfrm>
            <a:off x="548640" y="1600200"/>
            <a:ext cx="2011680" cy="41148"/>
          </a:xfrm>
          <a:prstGeom prst="rect">
            <a:avLst/>
          </a:prstGeom>
          <a:solidFill>
            <a:srgbClr val="AC4B27"/>
          </a:solidFill>
          <a:ln/>
        </p:spPr>
      </p:sp>
      <p:pic>
        <p:nvPicPr>
          <p:cNvPr id="5" name="Image 0" descr="./assets/architecture_diagram.png">    </p:cNvPr>
          <p:cNvPicPr>
            <a:picLocks noChangeAspect="1"/>
          </p:cNvPicPr>
          <p:nvPr/>
        </p:nvPicPr>
        <p:blipFill>
          <a:blip r:embed="rId1"/>
          <a:stretch>
            <a:fillRect/>
          </a:stretch>
        </p:blipFill>
        <p:spPr>
          <a:xfrm>
            <a:off x="1463040" y="1828800"/>
            <a:ext cx="9235440" cy="4434840"/>
          </a:xfrm>
          <a:prstGeom prst="rect">
            <a:avLst/>
          </a:prstGeom>
        </p:spPr>
      </p:pic>
      <p:sp>
        <p:nvSpPr>
          <p:cNvPr id="6" name="Text 3"/>
          <p:cNvSpPr txBox="1"/>
          <p:nvPr/>
        </p:nvSpPr>
        <p:spPr>
          <a:xfrm>
            <a:off x="548640" y="6492240"/>
            <a:ext cx="3657600" cy="274320"/>
          </a:xfrm>
          <a:prstGeom prst="rect">
            <a:avLst/>
          </a:prstGeom>
          <a:noFill/>
          <a:ln/>
        </p:spPr>
        <p:txBody>
          <a:bodyPr wrap="square" lIns="0" tIns="0" rIns="0" bIns="0" rtlCol="0" anchor="ctr"/>
          <a:lstStyle/>
          <a:p>
            <a:pPr indent="0" marL="0">
              <a:buNone/>
            </a:pPr>
            <a:r>
              <a:rPr lang="en-US" sz="1000" dirty="0">
                <a:solidFill>
                  <a:srgbClr val="8A8474"/>
                </a:solidFill>
                <a:latin typeface="Calibri" pitchFamily="34" charset="0"/>
                <a:ea typeface="Calibri" pitchFamily="34" charset="-122"/>
                <a:cs typeface="Calibri" pitchFamily="34" charset="-120"/>
              </a:rPr>
              <a:t>PoultryConnect</a:t>
            </a:r>
            <a:endParaRPr lang="en-US" sz="1000" dirty="0"/>
          </a:p>
        </p:txBody>
      </p:sp>
      <p:sp>
        <p:nvSpPr>
          <p:cNvPr id="7" name="Text 4"/>
          <p:cNvSpPr txBox="1"/>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8A847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3"/>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400" b="1" dirty="0">
                <a:solidFill>
                  <a:srgbClr val="AC4B27"/>
                </a:solidFill>
                <a:latin typeface="Calibri" pitchFamily="34" charset="0"/>
                <a:ea typeface="Calibri" pitchFamily="34" charset="-122"/>
                <a:cs typeface="Calibri" pitchFamily="34" charset="-120"/>
              </a:rPr>
              <a:t>DATA MODEL</a:t>
            </a:r>
            <a:endParaRPr lang="en-US" sz="14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262420"/>
                </a:solidFill>
                <a:latin typeface="Cambria" pitchFamily="34" charset="0"/>
                <a:ea typeface="Cambria" pitchFamily="34" charset="-122"/>
                <a:cs typeface="Cambria" pitchFamily="34" charset="-120"/>
              </a:rPr>
              <a:t>Three MongoDB collections, referenced not embedded</a:t>
            </a:r>
            <a:endParaRPr lang="en-US" sz="3200" dirty="0"/>
          </a:p>
        </p:txBody>
      </p:sp>
      <p:sp>
        <p:nvSpPr>
          <p:cNvPr id="4" name="Shape 2"/>
          <p:cNvSpPr/>
          <p:nvPr/>
        </p:nvSpPr>
        <p:spPr>
          <a:xfrm>
            <a:off x="548640" y="1600200"/>
            <a:ext cx="2011680" cy="41148"/>
          </a:xfrm>
          <a:prstGeom prst="rect">
            <a:avLst/>
          </a:prstGeom>
          <a:solidFill>
            <a:srgbClr val="AC4B27"/>
          </a:solidFill>
          <a:ln/>
        </p:spPr>
      </p:sp>
      <p:pic>
        <p:nvPicPr>
          <p:cNvPr id="5" name="Image 0" descr="./assets/er_diagram.png">    </p:cNvPr>
          <p:cNvPicPr>
            <a:picLocks noChangeAspect="1"/>
          </p:cNvPicPr>
          <p:nvPr/>
        </p:nvPicPr>
        <p:blipFill>
          <a:blip r:embed="rId1"/>
          <a:stretch>
            <a:fillRect/>
          </a:stretch>
        </p:blipFill>
        <p:spPr>
          <a:xfrm>
            <a:off x="1188720" y="1965960"/>
            <a:ext cx="9784080" cy="3063240"/>
          </a:xfrm>
          <a:prstGeom prst="rect">
            <a:avLst/>
          </a:prstGeom>
        </p:spPr>
      </p:pic>
      <p:sp>
        <p:nvSpPr>
          <p:cNvPr id="6" name="Text 3"/>
          <p:cNvSpPr txBox="1"/>
          <p:nvPr/>
        </p:nvSpPr>
        <p:spPr>
          <a:xfrm>
            <a:off x="822960" y="5257800"/>
            <a:ext cx="10515600" cy="822960"/>
          </a:xfrm>
          <a:prstGeom prst="rect">
            <a:avLst/>
          </a:prstGeom>
          <a:noFill/>
          <a:ln/>
        </p:spPr>
        <p:txBody>
          <a:bodyPr wrap="square" lIns="0" tIns="0" rIns="0" bIns="0" rtlCol="0" anchor="ctr"/>
          <a:lstStyle/>
          <a:p>
            <a:pPr indent="0" marL="0">
              <a:buNone/>
            </a:pPr>
            <a:r>
              <a:rPr lang="en-US" sz="1400" i="1" dirty="0">
                <a:solidFill>
                  <a:srgbClr val="262420"/>
                </a:solidFill>
                <a:latin typeface="Calibri" pitchFamily="34" charset="0"/>
                <a:ea typeface="Calibri" pitchFamily="34" charset="-122"/>
                <a:cs typeface="Calibri" pitchFamily="34" charset="-120"/>
              </a:rPr>
              <a:t>Listings and orders are queried and updated independently of the user record, and grow far faster than the user collection — so relationships use referenced ObjectIds, populated at query time with Mongoose's .populate().</a:t>
            </a:r>
            <a:endParaRPr lang="en-US" sz="1400" dirty="0"/>
          </a:p>
        </p:txBody>
      </p:sp>
      <p:sp>
        <p:nvSpPr>
          <p:cNvPr id="7" name="Text 4"/>
          <p:cNvSpPr txBox="1"/>
          <p:nvPr/>
        </p:nvSpPr>
        <p:spPr>
          <a:xfrm>
            <a:off x="548640" y="6492240"/>
            <a:ext cx="3657600" cy="274320"/>
          </a:xfrm>
          <a:prstGeom prst="rect">
            <a:avLst/>
          </a:prstGeom>
          <a:noFill/>
          <a:ln/>
        </p:spPr>
        <p:txBody>
          <a:bodyPr wrap="square" lIns="0" tIns="0" rIns="0" bIns="0" rtlCol="0" anchor="ctr"/>
          <a:lstStyle/>
          <a:p>
            <a:pPr indent="0" marL="0">
              <a:buNone/>
            </a:pPr>
            <a:r>
              <a:rPr lang="en-US" sz="1000" dirty="0">
                <a:solidFill>
                  <a:srgbClr val="8A8474"/>
                </a:solidFill>
                <a:latin typeface="Calibri" pitchFamily="34" charset="0"/>
                <a:ea typeface="Calibri" pitchFamily="34" charset="-122"/>
                <a:cs typeface="Calibri" pitchFamily="34" charset="-120"/>
              </a:rPr>
              <a:t>PoultryConnect</a:t>
            </a:r>
            <a:endParaRPr lang="en-US" sz="1000" dirty="0"/>
          </a:p>
        </p:txBody>
      </p:sp>
      <p:sp>
        <p:nvSpPr>
          <p:cNvPr id="8" name="Text 5"/>
          <p:cNvSpPr txBox="1"/>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8A847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62420"/>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400" b="1" dirty="0">
                <a:solidFill>
                  <a:srgbClr val="E4C878"/>
                </a:solidFill>
                <a:latin typeface="Calibri" pitchFamily="34" charset="0"/>
                <a:ea typeface="Calibri" pitchFamily="34" charset="-122"/>
                <a:cs typeface="Calibri" pitchFamily="34" charset="-120"/>
              </a:rPr>
              <a:t>TECHNOLOGY STACK</a:t>
            </a:r>
            <a:endParaRPr lang="en-US" sz="14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FFFDF8"/>
                </a:solidFill>
                <a:latin typeface="Cambria" pitchFamily="34" charset="0"/>
                <a:ea typeface="Cambria" pitchFamily="34" charset="-122"/>
                <a:cs typeface="Cambria" pitchFamily="34" charset="-120"/>
              </a:rPr>
              <a:t>Every choice was made for a reason, not a default</a:t>
            </a:r>
            <a:endParaRPr lang="en-US" sz="3200" dirty="0"/>
          </a:p>
        </p:txBody>
      </p:sp>
      <p:sp>
        <p:nvSpPr>
          <p:cNvPr id="4" name="Shape 2"/>
          <p:cNvSpPr/>
          <p:nvPr/>
        </p:nvSpPr>
        <p:spPr>
          <a:xfrm>
            <a:off x="822960" y="1920240"/>
            <a:ext cx="457200" cy="457200"/>
          </a:xfrm>
          <a:prstGeom prst="roundRect">
            <a:avLst>
              <a:gd name="adj" fmla="val 50000"/>
            </a:avLst>
          </a:prstGeom>
          <a:solidFill>
            <a:srgbClr val="AC4B27"/>
          </a:solidFill>
          <a:ln/>
        </p:spPr>
      </p:sp>
      <p:sp>
        <p:nvSpPr>
          <p:cNvPr id="5" name="Text 3"/>
          <p:cNvSpPr txBox="1"/>
          <p:nvPr/>
        </p:nvSpPr>
        <p:spPr>
          <a:xfrm>
            <a:off x="822960" y="1920240"/>
            <a:ext cx="457200" cy="457200"/>
          </a:xfrm>
          <a:prstGeom prst="rect">
            <a:avLst/>
          </a:prstGeom>
          <a:noFill/>
          <a:ln/>
        </p:spPr>
        <p:txBody>
          <a:bodyPr wrap="square" lIns="0" tIns="0" rIns="0" bIns="0" rtlCol="0" anchor="ctr"/>
          <a:lstStyle/>
          <a:p>
            <a:pPr algn="ctr" indent="0" marL="0">
              <a:buNone/>
            </a:pPr>
            <a:r>
              <a:rPr lang="en-US" sz="1600" b="1" dirty="0">
                <a:solidFill>
                  <a:srgbClr val="FFFDF8"/>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508760" y="1874520"/>
            <a:ext cx="2926080" cy="548640"/>
          </a:xfrm>
          <a:prstGeom prst="rect">
            <a:avLst/>
          </a:prstGeom>
          <a:noFill/>
          <a:ln/>
        </p:spPr>
        <p:txBody>
          <a:bodyPr wrap="square" lIns="0" tIns="0" rIns="0" bIns="0" rtlCol="0" anchor="ctr"/>
          <a:lstStyle/>
          <a:p>
            <a:pPr indent="0" marL="0">
              <a:buNone/>
            </a:pPr>
            <a:r>
              <a:rPr lang="en-US" sz="1600" b="1" dirty="0">
                <a:solidFill>
                  <a:srgbClr val="E4C878"/>
                </a:solidFill>
                <a:latin typeface="Cambria" pitchFamily="34" charset="0"/>
                <a:ea typeface="Cambria" pitchFamily="34" charset="-122"/>
                <a:cs typeface="Cambria" pitchFamily="34" charset="-120"/>
              </a:rPr>
              <a:t>React + Vite</a:t>
            </a:r>
            <a:endParaRPr lang="en-US" sz="1600" dirty="0"/>
          </a:p>
        </p:txBody>
      </p:sp>
      <p:sp>
        <p:nvSpPr>
          <p:cNvPr id="7" name="Text 5"/>
          <p:cNvSpPr txBox="1"/>
          <p:nvPr/>
        </p:nvSpPr>
        <p:spPr>
          <a:xfrm>
            <a:off x="4526280" y="1874520"/>
            <a:ext cx="6766560" cy="548640"/>
          </a:xfrm>
          <a:prstGeom prst="rect">
            <a:avLst/>
          </a:prstGeom>
          <a:noFill/>
          <a:ln/>
        </p:spPr>
        <p:txBody>
          <a:bodyPr wrap="square" lIns="0" tIns="0" rIns="0" bIns="0" rtlCol="0" anchor="ctr"/>
          <a:lstStyle/>
          <a:p>
            <a:pPr indent="0" marL="0">
              <a:buNone/>
            </a:pPr>
            <a:r>
              <a:rPr lang="en-US" sz="1350" dirty="0">
                <a:solidFill>
                  <a:srgbClr val="F6F1E3"/>
                </a:solidFill>
                <a:latin typeface="Calibri" pitchFamily="34" charset="0"/>
                <a:ea typeface="Calibri" pitchFamily="34" charset="-122"/>
                <a:cs typeface="Calibri" pitchFamily="34" charset="-120"/>
              </a:rPr>
              <a:t>Component-based UI for two very different dashboards; fast solo-dev workflow</a:t>
            </a:r>
            <a:endParaRPr lang="en-US" sz="1350" dirty="0"/>
          </a:p>
        </p:txBody>
      </p:sp>
      <p:sp>
        <p:nvSpPr>
          <p:cNvPr id="8" name="Shape 6"/>
          <p:cNvSpPr/>
          <p:nvPr/>
        </p:nvSpPr>
        <p:spPr>
          <a:xfrm>
            <a:off x="822960" y="2761488"/>
            <a:ext cx="457200" cy="457200"/>
          </a:xfrm>
          <a:prstGeom prst="roundRect">
            <a:avLst>
              <a:gd name="adj" fmla="val 50000"/>
            </a:avLst>
          </a:prstGeom>
          <a:solidFill>
            <a:srgbClr val="45573A"/>
          </a:solidFill>
          <a:ln/>
        </p:spPr>
      </p:sp>
      <p:sp>
        <p:nvSpPr>
          <p:cNvPr id="9" name="Text 7"/>
          <p:cNvSpPr txBox="1"/>
          <p:nvPr/>
        </p:nvSpPr>
        <p:spPr>
          <a:xfrm>
            <a:off x="822960" y="2761488"/>
            <a:ext cx="457200" cy="457200"/>
          </a:xfrm>
          <a:prstGeom prst="rect">
            <a:avLst/>
          </a:prstGeom>
          <a:noFill/>
          <a:ln/>
        </p:spPr>
        <p:txBody>
          <a:bodyPr wrap="square" lIns="0" tIns="0" rIns="0" bIns="0" rtlCol="0" anchor="ctr"/>
          <a:lstStyle/>
          <a:p>
            <a:pPr algn="ctr" indent="0" marL="0">
              <a:buNone/>
            </a:pPr>
            <a:r>
              <a:rPr lang="en-US" sz="1600" b="1" dirty="0">
                <a:solidFill>
                  <a:srgbClr val="FFFDF8"/>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508760" y="2715768"/>
            <a:ext cx="2926080" cy="548640"/>
          </a:xfrm>
          <a:prstGeom prst="rect">
            <a:avLst/>
          </a:prstGeom>
          <a:noFill/>
          <a:ln/>
        </p:spPr>
        <p:txBody>
          <a:bodyPr wrap="square" lIns="0" tIns="0" rIns="0" bIns="0" rtlCol="0" anchor="ctr"/>
          <a:lstStyle/>
          <a:p>
            <a:pPr indent="0" marL="0">
              <a:buNone/>
            </a:pPr>
            <a:r>
              <a:rPr lang="en-US" sz="1600" b="1" dirty="0">
                <a:solidFill>
                  <a:srgbClr val="E4C878"/>
                </a:solidFill>
                <a:latin typeface="Cambria" pitchFamily="34" charset="0"/>
                <a:ea typeface="Cambria" pitchFamily="34" charset="-122"/>
                <a:cs typeface="Cambria" pitchFamily="34" charset="-120"/>
              </a:rPr>
              <a:t>Node.js + Express</a:t>
            </a:r>
            <a:endParaRPr lang="en-US" sz="1600" dirty="0"/>
          </a:p>
        </p:txBody>
      </p:sp>
      <p:sp>
        <p:nvSpPr>
          <p:cNvPr id="11" name="Text 9"/>
          <p:cNvSpPr txBox="1"/>
          <p:nvPr/>
        </p:nvSpPr>
        <p:spPr>
          <a:xfrm>
            <a:off x="4526280" y="2715768"/>
            <a:ext cx="6766560" cy="548640"/>
          </a:xfrm>
          <a:prstGeom prst="rect">
            <a:avLst/>
          </a:prstGeom>
          <a:noFill/>
          <a:ln/>
        </p:spPr>
        <p:txBody>
          <a:bodyPr wrap="square" lIns="0" tIns="0" rIns="0" bIns="0" rtlCol="0" anchor="ctr"/>
          <a:lstStyle/>
          <a:p>
            <a:pPr indent="0" marL="0">
              <a:buNone/>
            </a:pPr>
            <a:r>
              <a:rPr lang="en-US" sz="1350" dirty="0">
                <a:solidFill>
                  <a:srgbClr val="F6F1E3"/>
                </a:solidFill>
                <a:latin typeface="Calibri" pitchFamily="34" charset="0"/>
                <a:ea typeface="Calibri" pitchFamily="34" charset="-122"/>
                <a:cs typeface="Calibri" pitchFamily="34" charset="-120"/>
              </a:rPr>
              <a:t>One language across the stack; lightweight, unopinionated REST API</a:t>
            </a:r>
            <a:endParaRPr lang="en-US" sz="1350" dirty="0"/>
          </a:p>
        </p:txBody>
      </p:sp>
      <p:sp>
        <p:nvSpPr>
          <p:cNvPr id="12" name="Shape 10"/>
          <p:cNvSpPr/>
          <p:nvPr/>
        </p:nvSpPr>
        <p:spPr>
          <a:xfrm>
            <a:off x="822960" y="3602736"/>
            <a:ext cx="457200" cy="457200"/>
          </a:xfrm>
          <a:prstGeom prst="roundRect">
            <a:avLst>
              <a:gd name="adj" fmla="val 50000"/>
            </a:avLst>
          </a:prstGeom>
          <a:solidFill>
            <a:srgbClr val="AC4B27"/>
          </a:solidFill>
          <a:ln/>
        </p:spPr>
      </p:sp>
      <p:sp>
        <p:nvSpPr>
          <p:cNvPr id="13" name="Text 11"/>
          <p:cNvSpPr txBox="1"/>
          <p:nvPr/>
        </p:nvSpPr>
        <p:spPr>
          <a:xfrm>
            <a:off x="822960" y="3602736"/>
            <a:ext cx="457200" cy="457200"/>
          </a:xfrm>
          <a:prstGeom prst="rect">
            <a:avLst/>
          </a:prstGeom>
          <a:noFill/>
          <a:ln/>
        </p:spPr>
        <p:txBody>
          <a:bodyPr wrap="square" lIns="0" tIns="0" rIns="0" bIns="0" rtlCol="0" anchor="ctr"/>
          <a:lstStyle/>
          <a:p>
            <a:pPr algn="ctr" indent="0" marL="0">
              <a:buNone/>
            </a:pPr>
            <a:r>
              <a:rPr lang="en-US" sz="1600" b="1" dirty="0">
                <a:solidFill>
                  <a:srgbClr val="FFFDF8"/>
                </a:solidFill>
                <a:latin typeface="Cambria" pitchFamily="34" charset="0"/>
                <a:ea typeface="Cambria" pitchFamily="34" charset="-122"/>
                <a:cs typeface="Cambria" pitchFamily="34" charset="-120"/>
              </a:rPr>
              <a:t>3</a:t>
            </a:r>
            <a:endParaRPr lang="en-US" sz="1600" dirty="0"/>
          </a:p>
        </p:txBody>
      </p:sp>
      <p:sp>
        <p:nvSpPr>
          <p:cNvPr id="14" name="Text 12"/>
          <p:cNvSpPr txBox="1"/>
          <p:nvPr/>
        </p:nvSpPr>
        <p:spPr>
          <a:xfrm>
            <a:off x="1508760" y="3557016"/>
            <a:ext cx="2926080" cy="548640"/>
          </a:xfrm>
          <a:prstGeom prst="rect">
            <a:avLst/>
          </a:prstGeom>
          <a:noFill/>
          <a:ln/>
        </p:spPr>
        <p:txBody>
          <a:bodyPr wrap="square" lIns="0" tIns="0" rIns="0" bIns="0" rtlCol="0" anchor="ctr"/>
          <a:lstStyle/>
          <a:p>
            <a:pPr indent="0" marL="0">
              <a:buNone/>
            </a:pPr>
            <a:r>
              <a:rPr lang="en-US" sz="1600" b="1" dirty="0">
                <a:solidFill>
                  <a:srgbClr val="E4C878"/>
                </a:solidFill>
                <a:latin typeface="Cambria" pitchFamily="34" charset="0"/>
                <a:ea typeface="Cambria" pitchFamily="34" charset="-122"/>
                <a:cs typeface="Cambria" pitchFamily="34" charset="-120"/>
              </a:rPr>
              <a:t>MongoDB Atlas</a:t>
            </a:r>
            <a:endParaRPr lang="en-US" sz="1600" dirty="0"/>
          </a:p>
        </p:txBody>
      </p:sp>
      <p:sp>
        <p:nvSpPr>
          <p:cNvPr id="15" name="Text 13"/>
          <p:cNvSpPr txBox="1"/>
          <p:nvPr/>
        </p:nvSpPr>
        <p:spPr>
          <a:xfrm>
            <a:off x="4526280" y="3557016"/>
            <a:ext cx="6766560" cy="548640"/>
          </a:xfrm>
          <a:prstGeom prst="rect">
            <a:avLst/>
          </a:prstGeom>
          <a:noFill/>
          <a:ln/>
        </p:spPr>
        <p:txBody>
          <a:bodyPr wrap="square" lIns="0" tIns="0" rIns="0" bIns="0" rtlCol="0" anchor="ctr"/>
          <a:lstStyle/>
          <a:p>
            <a:pPr indent="0" marL="0">
              <a:buNone/>
            </a:pPr>
            <a:r>
              <a:rPr lang="en-US" sz="1350" dirty="0">
                <a:solidFill>
                  <a:srgbClr val="F6F1E3"/>
                </a:solidFill>
                <a:latin typeface="Calibri" pitchFamily="34" charset="0"/>
                <a:ea typeface="Calibri" pitchFamily="34" charset="-122"/>
                <a:cs typeface="Calibri" pitchFamily="34" charset="-120"/>
              </a:rPr>
              <a:t>Managed cloud database — flexible schema, zero infrastructure to operate</a:t>
            </a:r>
            <a:endParaRPr lang="en-US" sz="1350" dirty="0"/>
          </a:p>
        </p:txBody>
      </p:sp>
      <p:sp>
        <p:nvSpPr>
          <p:cNvPr id="16" name="Shape 14"/>
          <p:cNvSpPr/>
          <p:nvPr/>
        </p:nvSpPr>
        <p:spPr>
          <a:xfrm>
            <a:off x="822960" y="4443984"/>
            <a:ext cx="457200" cy="457200"/>
          </a:xfrm>
          <a:prstGeom prst="roundRect">
            <a:avLst>
              <a:gd name="adj" fmla="val 50000"/>
            </a:avLst>
          </a:prstGeom>
          <a:solidFill>
            <a:srgbClr val="45573A"/>
          </a:solidFill>
          <a:ln/>
        </p:spPr>
      </p:sp>
      <p:sp>
        <p:nvSpPr>
          <p:cNvPr id="17" name="Text 15"/>
          <p:cNvSpPr txBox="1"/>
          <p:nvPr/>
        </p:nvSpPr>
        <p:spPr>
          <a:xfrm>
            <a:off x="822960" y="4443984"/>
            <a:ext cx="457200" cy="457200"/>
          </a:xfrm>
          <a:prstGeom prst="rect">
            <a:avLst/>
          </a:prstGeom>
          <a:noFill/>
          <a:ln/>
        </p:spPr>
        <p:txBody>
          <a:bodyPr wrap="square" lIns="0" tIns="0" rIns="0" bIns="0" rtlCol="0" anchor="ctr"/>
          <a:lstStyle/>
          <a:p>
            <a:pPr algn="ctr" indent="0" marL="0">
              <a:buNone/>
            </a:pPr>
            <a:r>
              <a:rPr lang="en-US" sz="1600" b="1" dirty="0">
                <a:solidFill>
                  <a:srgbClr val="FFFDF8"/>
                </a:solidFill>
                <a:latin typeface="Cambria" pitchFamily="34" charset="0"/>
                <a:ea typeface="Cambria" pitchFamily="34" charset="-122"/>
                <a:cs typeface="Cambria" pitchFamily="34" charset="-120"/>
              </a:rPr>
              <a:t>4</a:t>
            </a:r>
            <a:endParaRPr lang="en-US" sz="1600" dirty="0"/>
          </a:p>
        </p:txBody>
      </p:sp>
      <p:sp>
        <p:nvSpPr>
          <p:cNvPr id="18" name="Text 16"/>
          <p:cNvSpPr txBox="1"/>
          <p:nvPr/>
        </p:nvSpPr>
        <p:spPr>
          <a:xfrm>
            <a:off x="1508760" y="4398264"/>
            <a:ext cx="2926080" cy="548640"/>
          </a:xfrm>
          <a:prstGeom prst="rect">
            <a:avLst/>
          </a:prstGeom>
          <a:noFill/>
          <a:ln/>
        </p:spPr>
        <p:txBody>
          <a:bodyPr wrap="square" lIns="0" tIns="0" rIns="0" bIns="0" rtlCol="0" anchor="ctr"/>
          <a:lstStyle/>
          <a:p>
            <a:pPr indent="0" marL="0">
              <a:buNone/>
            </a:pPr>
            <a:r>
              <a:rPr lang="en-US" sz="1600" b="1" dirty="0">
                <a:solidFill>
                  <a:srgbClr val="E4C878"/>
                </a:solidFill>
                <a:latin typeface="Cambria" pitchFamily="34" charset="0"/>
                <a:ea typeface="Cambria" pitchFamily="34" charset="-122"/>
                <a:cs typeface="Cambria" pitchFamily="34" charset="-120"/>
              </a:rPr>
              <a:t>JWT + bcrypt</a:t>
            </a:r>
            <a:endParaRPr lang="en-US" sz="1600" dirty="0"/>
          </a:p>
        </p:txBody>
      </p:sp>
      <p:sp>
        <p:nvSpPr>
          <p:cNvPr id="19" name="Text 17"/>
          <p:cNvSpPr txBox="1"/>
          <p:nvPr/>
        </p:nvSpPr>
        <p:spPr>
          <a:xfrm>
            <a:off x="4526280" y="4398264"/>
            <a:ext cx="6766560" cy="548640"/>
          </a:xfrm>
          <a:prstGeom prst="rect">
            <a:avLst/>
          </a:prstGeom>
          <a:noFill/>
          <a:ln/>
        </p:spPr>
        <p:txBody>
          <a:bodyPr wrap="square" lIns="0" tIns="0" rIns="0" bIns="0" rtlCol="0" anchor="ctr"/>
          <a:lstStyle/>
          <a:p>
            <a:pPr indent="0" marL="0">
              <a:buNone/>
            </a:pPr>
            <a:r>
              <a:rPr lang="en-US" sz="1350" dirty="0">
                <a:solidFill>
                  <a:srgbClr val="F6F1E3"/>
                </a:solidFill>
                <a:latin typeface="Calibri" pitchFamily="34" charset="0"/>
                <a:ea typeface="Calibri" pitchFamily="34" charset="-122"/>
                <a:cs typeface="Calibri" pitchFamily="34" charset="-120"/>
              </a:rPr>
              <a:t>Stateless auth suited to a decoupled SPA/API; industry-standard password hashing</a:t>
            </a:r>
            <a:endParaRPr lang="en-US" sz="1350" dirty="0"/>
          </a:p>
        </p:txBody>
      </p:sp>
      <p:sp>
        <p:nvSpPr>
          <p:cNvPr id="20" name="Shape 18"/>
          <p:cNvSpPr/>
          <p:nvPr/>
        </p:nvSpPr>
        <p:spPr>
          <a:xfrm>
            <a:off x="822960" y="5285232"/>
            <a:ext cx="457200" cy="457200"/>
          </a:xfrm>
          <a:prstGeom prst="roundRect">
            <a:avLst>
              <a:gd name="adj" fmla="val 50000"/>
            </a:avLst>
          </a:prstGeom>
          <a:solidFill>
            <a:srgbClr val="AC4B27"/>
          </a:solidFill>
          <a:ln/>
        </p:spPr>
      </p:sp>
      <p:sp>
        <p:nvSpPr>
          <p:cNvPr id="21" name="Text 19"/>
          <p:cNvSpPr txBox="1"/>
          <p:nvPr/>
        </p:nvSpPr>
        <p:spPr>
          <a:xfrm>
            <a:off x="822960" y="5285232"/>
            <a:ext cx="457200" cy="457200"/>
          </a:xfrm>
          <a:prstGeom prst="rect">
            <a:avLst/>
          </a:prstGeom>
          <a:noFill/>
          <a:ln/>
        </p:spPr>
        <p:txBody>
          <a:bodyPr wrap="square" lIns="0" tIns="0" rIns="0" bIns="0" rtlCol="0" anchor="ctr"/>
          <a:lstStyle/>
          <a:p>
            <a:pPr algn="ctr" indent="0" marL="0">
              <a:buNone/>
            </a:pPr>
            <a:r>
              <a:rPr lang="en-US" sz="1600" b="1" dirty="0">
                <a:solidFill>
                  <a:srgbClr val="FFFDF8"/>
                </a:solidFill>
                <a:latin typeface="Cambria" pitchFamily="34" charset="0"/>
                <a:ea typeface="Cambria" pitchFamily="34" charset="-122"/>
                <a:cs typeface="Cambria" pitchFamily="34" charset="-120"/>
              </a:rPr>
              <a:t>5</a:t>
            </a:r>
            <a:endParaRPr lang="en-US" sz="1600" dirty="0"/>
          </a:p>
        </p:txBody>
      </p:sp>
      <p:sp>
        <p:nvSpPr>
          <p:cNvPr id="22" name="Text 20"/>
          <p:cNvSpPr txBox="1"/>
          <p:nvPr/>
        </p:nvSpPr>
        <p:spPr>
          <a:xfrm>
            <a:off x="1508760" y="5239512"/>
            <a:ext cx="2926080" cy="548640"/>
          </a:xfrm>
          <a:prstGeom prst="rect">
            <a:avLst/>
          </a:prstGeom>
          <a:noFill/>
          <a:ln/>
        </p:spPr>
        <p:txBody>
          <a:bodyPr wrap="square" lIns="0" tIns="0" rIns="0" bIns="0" rtlCol="0" anchor="ctr"/>
          <a:lstStyle/>
          <a:p>
            <a:pPr indent="0" marL="0">
              <a:buNone/>
            </a:pPr>
            <a:r>
              <a:rPr lang="en-US" sz="1600" b="1" dirty="0">
                <a:solidFill>
                  <a:srgbClr val="E4C878"/>
                </a:solidFill>
                <a:latin typeface="Cambria" pitchFamily="34" charset="0"/>
                <a:ea typeface="Cambria" pitchFamily="34" charset="-122"/>
                <a:cs typeface="Cambria" pitchFamily="34" charset="-120"/>
              </a:rPr>
              <a:t>Vercel + Render</a:t>
            </a:r>
            <a:endParaRPr lang="en-US" sz="1600" dirty="0"/>
          </a:p>
        </p:txBody>
      </p:sp>
      <p:sp>
        <p:nvSpPr>
          <p:cNvPr id="23" name="Text 21"/>
          <p:cNvSpPr txBox="1"/>
          <p:nvPr/>
        </p:nvSpPr>
        <p:spPr>
          <a:xfrm>
            <a:off x="4526280" y="5239512"/>
            <a:ext cx="6766560" cy="548640"/>
          </a:xfrm>
          <a:prstGeom prst="rect">
            <a:avLst/>
          </a:prstGeom>
          <a:noFill/>
          <a:ln/>
        </p:spPr>
        <p:txBody>
          <a:bodyPr wrap="square" lIns="0" tIns="0" rIns="0" bIns="0" rtlCol="0" anchor="ctr"/>
          <a:lstStyle/>
          <a:p>
            <a:pPr indent="0" marL="0">
              <a:buNone/>
            </a:pPr>
            <a:r>
              <a:rPr lang="en-US" sz="1350" dirty="0">
                <a:solidFill>
                  <a:srgbClr val="F6F1E3"/>
                </a:solidFill>
                <a:latin typeface="Calibri" pitchFamily="34" charset="0"/>
                <a:ea typeface="Calibri" pitchFamily="34" charset="-122"/>
                <a:cs typeface="Calibri" pitchFamily="34" charset="-120"/>
              </a:rPr>
              <a:t>Git-push continuous deployment to real public cloud infrastructure</a:t>
            </a:r>
            <a:endParaRPr lang="en-US" sz="1350" dirty="0"/>
          </a:p>
        </p:txBody>
      </p:sp>
      <p:sp>
        <p:nvSpPr>
          <p:cNvPr id="24" name="Text 22"/>
          <p:cNvSpPr txBox="1"/>
          <p:nvPr/>
        </p:nvSpPr>
        <p:spPr>
          <a:xfrm>
            <a:off x="548640" y="6492240"/>
            <a:ext cx="3657600" cy="274320"/>
          </a:xfrm>
          <a:prstGeom prst="rect">
            <a:avLst/>
          </a:prstGeom>
          <a:noFill/>
          <a:ln/>
        </p:spPr>
        <p:txBody>
          <a:bodyPr wrap="square" lIns="0" tIns="0" rIns="0" bIns="0" rtlCol="0" anchor="ctr"/>
          <a:lstStyle/>
          <a:p>
            <a:pPr indent="0" marL="0">
              <a:buNone/>
            </a:pPr>
            <a:r>
              <a:rPr lang="en-US" sz="1000" dirty="0">
                <a:solidFill>
                  <a:srgbClr val="8A8474"/>
                </a:solidFill>
                <a:latin typeface="Calibri" pitchFamily="34" charset="0"/>
                <a:ea typeface="Calibri" pitchFamily="34" charset="-122"/>
                <a:cs typeface="Calibri" pitchFamily="34" charset="-120"/>
              </a:rPr>
              <a:t>PoultryConnect</a:t>
            </a:r>
            <a:endParaRPr lang="en-US" sz="1000" dirty="0"/>
          </a:p>
        </p:txBody>
      </p:sp>
      <p:sp>
        <p:nvSpPr>
          <p:cNvPr id="25" name="Text 23"/>
          <p:cNvSpPr txBox="1"/>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8A847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3"/>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400" b="1" dirty="0">
                <a:solidFill>
                  <a:srgbClr val="AC4B27"/>
                </a:solidFill>
                <a:latin typeface="Calibri" pitchFamily="34" charset="0"/>
                <a:ea typeface="Calibri" pitchFamily="34" charset="-122"/>
                <a:cs typeface="Calibri" pitchFamily="34" charset="-120"/>
              </a:rPr>
              <a:t>LIVE DEMONSTRATION</a:t>
            </a:r>
            <a:endParaRPr lang="en-US" sz="14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262420"/>
                </a:solidFill>
                <a:latin typeface="Cambria" pitchFamily="34" charset="0"/>
                <a:ea typeface="Cambria" pitchFamily="34" charset="-122"/>
                <a:cs typeface="Cambria" pitchFamily="34" charset="-120"/>
              </a:rPr>
              <a:t>What I'll show you now, on the live deployed site</a:t>
            </a:r>
            <a:endParaRPr lang="en-US" sz="3200" dirty="0"/>
          </a:p>
        </p:txBody>
      </p:sp>
      <p:sp>
        <p:nvSpPr>
          <p:cNvPr id="4" name="Shape 2"/>
          <p:cNvSpPr/>
          <p:nvPr/>
        </p:nvSpPr>
        <p:spPr>
          <a:xfrm>
            <a:off x="548640" y="1600200"/>
            <a:ext cx="2011680" cy="41148"/>
          </a:xfrm>
          <a:prstGeom prst="rect">
            <a:avLst/>
          </a:prstGeom>
          <a:solidFill>
            <a:srgbClr val="AC4B27"/>
          </a:solidFill>
          <a:ln/>
        </p:spPr>
      </p:sp>
      <p:sp>
        <p:nvSpPr>
          <p:cNvPr id="5" name="Shape 3"/>
          <p:cNvSpPr/>
          <p:nvPr/>
        </p:nvSpPr>
        <p:spPr>
          <a:xfrm>
            <a:off x="640080" y="2011680"/>
            <a:ext cx="5120640" cy="822960"/>
          </a:xfrm>
          <a:prstGeom prst="roundRect">
            <a:avLst>
              <a:gd name="adj" fmla="val 6667"/>
            </a:avLst>
          </a:prstGeom>
          <a:solidFill>
            <a:srgbClr val="FFFDF8"/>
          </a:solidFill>
          <a:ln w="12700">
            <a:solidFill>
              <a:srgbClr val="D9D0B8"/>
            </a:solidFill>
            <a:prstDash val="solid"/>
          </a:ln>
        </p:spPr>
      </p:sp>
      <p:sp>
        <p:nvSpPr>
          <p:cNvPr id="6" name="Text 4"/>
          <p:cNvSpPr txBox="1"/>
          <p:nvPr/>
        </p:nvSpPr>
        <p:spPr>
          <a:xfrm>
            <a:off x="777240" y="2011680"/>
            <a:ext cx="457200" cy="822960"/>
          </a:xfrm>
          <a:prstGeom prst="rect">
            <a:avLst/>
          </a:prstGeom>
          <a:noFill/>
          <a:ln/>
        </p:spPr>
        <p:txBody>
          <a:bodyPr wrap="square" lIns="0" tIns="0" rIns="0" bIns="0" rtlCol="0" anchor="ctr"/>
          <a:lstStyle/>
          <a:p>
            <a:pPr algn="ctr" indent="0" marL="0">
              <a:buNone/>
            </a:pPr>
            <a:r>
              <a:rPr lang="en-US" sz="2000" b="1" dirty="0">
                <a:solidFill>
                  <a:srgbClr val="AC4B27"/>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325880" y="2011680"/>
            <a:ext cx="4297680" cy="822960"/>
          </a:xfrm>
          <a:prstGeom prst="rect">
            <a:avLst/>
          </a:prstGeom>
          <a:noFill/>
          <a:ln/>
        </p:spPr>
        <p:txBody>
          <a:bodyPr wrap="square" lIns="0" tIns="0" rIns="0" bIns="0" rtlCol="0" anchor="ctr"/>
          <a:lstStyle/>
          <a:p>
            <a:pPr indent="0" marL="0">
              <a:buNone/>
            </a:pPr>
            <a:r>
              <a:rPr lang="en-US" sz="1350" dirty="0">
                <a:solidFill>
                  <a:srgbClr val="262420"/>
                </a:solidFill>
                <a:latin typeface="Calibri" pitchFamily="34" charset="0"/>
                <a:ea typeface="Calibri" pitchFamily="34" charset="-122"/>
                <a:cs typeface="Calibri" pitchFamily="34" charset="-120"/>
              </a:rPr>
              <a:t>Register a farmer account and a buyer account</a:t>
            </a:r>
            <a:endParaRPr lang="en-US" sz="1350" dirty="0"/>
          </a:p>
        </p:txBody>
      </p:sp>
      <p:sp>
        <p:nvSpPr>
          <p:cNvPr id="8" name="Shape 6"/>
          <p:cNvSpPr/>
          <p:nvPr/>
        </p:nvSpPr>
        <p:spPr>
          <a:xfrm>
            <a:off x="6035040" y="2011680"/>
            <a:ext cx="5120640" cy="822960"/>
          </a:xfrm>
          <a:prstGeom prst="roundRect">
            <a:avLst>
              <a:gd name="adj" fmla="val 6667"/>
            </a:avLst>
          </a:prstGeom>
          <a:solidFill>
            <a:srgbClr val="FFFDF8"/>
          </a:solidFill>
          <a:ln w="12700">
            <a:solidFill>
              <a:srgbClr val="D9D0B8"/>
            </a:solidFill>
            <a:prstDash val="solid"/>
          </a:ln>
        </p:spPr>
      </p:sp>
      <p:sp>
        <p:nvSpPr>
          <p:cNvPr id="9" name="Text 7"/>
          <p:cNvSpPr txBox="1"/>
          <p:nvPr/>
        </p:nvSpPr>
        <p:spPr>
          <a:xfrm>
            <a:off x="6172200" y="2011680"/>
            <a:ext cx="457200" cy="822960"/>
          </a:xfrm>
          <a:prstGeom prst="rect">
            <a:avLst/>
          </a:prstGeom>
          <a:noFill/>
          <a:ln/>
        </p:spPr>
        <p:txBody>
          <a:bodyPr wrap="square" lIns="0" tIns="0" rIns="0" bIns="0" rtlCol="0" anchor="ctr"/>
          <a:lstStyle/>
          <a:p>
            <a:pPr algn="ctr" indent="0" marL="0">
              <a:buNone/>
            </a:pPr>
            <a:r>
              <a:rPr lang="en-US" sz="2000" b="1" dirty="0">
                <a:solidFill>
                  <a:srgbClr val="AC4B27"/>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6720840" y="2011680"/>
            <a:ext cx="4297680" cy="822960"/>
          </a:xfrm>
          <a:prstGeom prst="rect">
            <a:avLst/>
          </a:prstGeom>
          <a:noFill/>
          <a:ln/>
        </p:spPr>
        <p:txBody>
          <a:bodyPr wrap="square" lIns="0" tIns="0" rIns="0" bIns="0" rtlCol="0" anchor="ctr"/>
          <a:lstStyle/>
          <a:p>
            <a:pPr indent="0" marL="0">
              <a:buNone/>
            </a:pPr>
            <a:r>
              <a:rPr lang="en-US" sz="1350" dirty="0">
                <a:solidFill>
                  <a:srgbClr val="262420"/>
                </a:solidFill>
                <a:latin typeface="Calibri" pitchFamily="34" charset="0"/>
                <a:ea typeface="Calibri" pitchFamily="34" charset="-122"/>
                <a:cs typeface="Calibri" pitchFamily="34" charset="-120"/>
              </a:rPr>
              <a:t>Farmer: publish a new poultry listing</a:t>
            </a:r>
            <a:endParaRPr lang="en-US" sz="1350" dirty="0"/>
          </a:p>
        </p:txBody>
      </p:sp>
      <p:sp>
        <p:nvSpPr>
          <p:cNvPr id="11" name="Shape 9"/>
          <p:cNvSpPr/>
          <p:nvPr/>
        </p:nvSpPr>
        <p:spPr>
          <a:xfrm>
            <a:off x="640080" y="3063240"/>
            <a:ext cx="5120640" cy="822960"/>
          </a:xfrm>
          <a:prstGeom prst="roundRect">
            <a:avLst>
              <a:gd name="adj" fmla="val 6667"/>
            </a:avLst>
          </a:prstGeom>
          <a:solidFill>
            <a:srgbClr val="FFFDF8"/>
          </a:solidFill>
          <a:ln w="12700">
            <a:solidFill>
              <a:srgbClr val="D9D0B8"/>
            </a:solidFill>
            <a:prstDash val="solid"/>
          </a:ln>
        </p:spPr>
      </p:sp>
      <p:sp>
        <p:nvSpPr>
          <p:cNvPr id="12" name="Text 10"/>
          <p:cNvSpPr txBox="1"/>
          <p:nvPr/>
        </p:nvSpPr>
        <p:spPr>
          <a:xfrm>
            <a:off x="777240" y="3063240"/>
            <a:ext cx="457200" cy="822960"/>
          </a:xfrm>
          <a:prstGeom prst="rect">
            <a:avLst/>
          </a:prstGeom>
          <a:noFill/>
          <a:ln/>
        </p:spPr>
        <p:txBody>
          <a:bodyPr wrap="square" lIns="0" tIns="0" rIns="0" bIns="0" rtlCol="0" anchor="ctr"/>
          <a:lstStyle/>
          <a:p>
            <a:pPr algn="ctr" indent="0" marL="0">
              <a:buNone/>
            </a:pPr>
            <a:r>
              <a:rPr lang="en-US" sz="2000" b="1" dirty="0">
                <a:solidFill>
                  <a:srgbClr val="AC4B27"/>
                </a:solidFill>
                <a:latin typeface="Cambria" pitchFamily="34" charset="0"/>
                <a:ea typeface="Cambria" pitchFamily="34" charset="-122"/>
                <a:cs typeface="Cambria" pitchFamily="34" charset="-120"/>
              </a:rPr>
              <a:t>3</a:t>
            </a:r>
            <a:endParaRPr lang="en-US" sz="2000" dirty="0"/>
          </a:p>
        </p:txBody>
      </p:sp>
      <p:sp>
        <p:nvSpPr>
          <p:cNvPr id="13" name="Text 11"/>
          <p:cNvSpPr txBox="1"/>
          <p:nvPr/>
        </p:nvSpPr>
        <p:spPr>
          <a:xfrm>
            <a:off x="1325880" y="3063240"/>
            <a:ext cx="4297680" cy="822960"/>
          </a:xfrm>
          <a:prstGeom prst="rect">
            <a:avLst/>
          </a:prstGeom>
          <a:noFill/>
          <a:ln/>
        </p:spPr>
        <p:txBody>
          <a:bodyPr wrap="square" lIns="0" tIns="0" rIns="0" bIns="0" rtlCol="0" anchor="ctr"/>
          <a:lstStyle/>
          <a:p>
            <a:pPr indent="0" marL="0">
              <a:buNone/>
            </a:pPr>
            <a:r>
              <a:rPr lang="en-US" sz="1350" dirty="0">
                <a:solidFill>
                  <a:srgbClr val="262420"/>
                </a:solidFill>
                <a:latin typeface="Calibri" pitchFamily="34" charset="0"/>
                <a:ea typeface="Calibri" pitchFamily="34" charset="-122"/>
                <a:cs typeface="Calibri" pitchFamily="34" charset="-120"/>
              </a:rPr>
              <a:t>Buyer: filter the marketplace and open a listing</a:t>
            </a:r>
            <a:endParaRPr lang="en-US" sz="1350" dirty="0"/>
          </a:p>
        </p:txBody>
      </p:sp>
      <p:sp>
        <p:nvSpPr>
          <p:cNvPr id="14" name="Shape 12"/>
          <p:cNvSpPr/>
          <p:nvPr/>
        </p:nvSpPr>
        <p:spPr>
          <a:xfrm>
            <a:off x="6035040" y="3063240"/>
            <a:ext cx="5120640" cy="822960"/>
          </a:xfrm>
          <a:prstGeom prst="roundRect">
            <a:avLst>
              <a:gd name="adj" fmla="val 6667"/>
            </a:avLst>
          </a:prstGeom>
          <a:solidFill>
            <a:srgbClr val="FFFDF8"/>
          </a:solidFill>
          <a:ln w="12700">
            <a:solidFill>
              <a:srgbClr val="D9D0B8"/>
            </a:solidFill>
            <a:prstDash val="solid"/>
          </a:ln>
        </p:spPr>
      </p:sp>
      <p:sp>
        <p:nvSpPr>
          <p:cNvPr id="15" name="Text 13"/>
          <p:cNvSpPr txBox="1"/>
          <p:nvPr/>
        </p:nvSpPr>
        <p:spPr>
          <a:xfrm>
            <a:off x="6172200" y="3063240"/>
            <a:ext cx="457200" cy="822960"/>
          </a:xfrm>
          <a:prstGeom prst="rect">
            <a:avLst/>
          </a:prstGeom>
          <a:noFill/>
          <a:ln/>
        </p:spPr>
        <p:txBody>
          <a:bodyPr wrap="square" lIns="0" tIns="0" rIns="0" bIns="0" rtlCol="0" anchor="ctr"/>
          <a:lstStyle/>
          <a:p>
            <a:pPr algn="ctr" indent="0" marL="0">
              <a:buNone/>
            </a:pPr>
            <a:r>
              <a:rPr lang="en-US" sz="2000" b="1" dirty="0">
                <a:solidFill>
                  <a:srgbClr val="AC4B27"/>
                </a:solidFill>
                <a:latin typeface="Cambria" pitchFamily="34" charset="0"/>
                <a:ea typeface="Cambria" pitchFamily="34" charset="-122"/>
                <a:cs typeface="Cambria" pitchFamily="34" charset="-120"/>
              </a:rPr>
              <a:t>4</a:t>
            </a:r>
            <a:endParaRPr lang="en-US" sz="2000" dirty="0"/>
          </a:p>
        </p:txBody>
      </p:sp>
      <p:sp>
        <p:nvSpPr>
          <p:cNvPr id="16" name="Text 14"/>
          <p:cNvSpPr txBox="1"/>
          <p:nvPr/>
        </p:nvSpPr>
        <p:spPr>
          <a:xfrm>
            <a:off x="6720840" y="3063240"/>
            <a:ext cx="4297680" cy="822960"/>
          </a:xfrm>
          <a:prstGeom prst="rect">
            <a:avLst/>
          </a:prstGeom>
          <a:noFill/>
          <a:ln/>
        </p:spPr>
        <p:txBody>
          <a:bodyPr wrap="square" lIns="0" tIns="0" rIns="0" bIns="0" rtlCol="0" anchor="ctr"/>
          <a:lstStyle/>
          <a:p>
            <a:pPr indent="0" marL="0">
              <a:buNone/>
            </a:pPr>
            <a:r>
              <a:rPr lang="en-US" sz="1350" dirty="0">
                <a:solidFill>
                  <a:srgbClr val="262420"/>
                </a:solidFill>
                <a:latin typeface="Calibri" pitchFamily="34" charset="0"/>
                <a:ea typeface="Calibri" pitchFamily="34" charset="-122"/>
                <a:cs typeface="Calibri" pitchFamily="34" charset="-120"/>
              </a:rPr>
              <a:t>Buyer: place an order</a:t>
            </a:r>
            <a:endParaRPr lang="en-US" sz="1350" dirty="0"/>
          </a:p>
        </p:txBody>
      </p:sp>
      <p:sp>
        <p:nvSpPr>
          <p:cNvPr id="17" name="Shape 15"/>
          <p:cNvSpPr/>
          <p:nvPr/>
        </p:nvSpPr>
        <p:spPr>
          <a:xfrm>
            <a:off x="640080" y="4114800"/>
            <a:ext cx="5120640" cy="822960"/>
          </a:xfrm>
          <a:prstGeom prst="roundRect">
            <a:avLst>
              <a:gd name="adj" fmla="val 6667"/>
            </a:avLst>
          </a:prstGeom>
          <a:solidFill>
            <a:srgbClr val="FFFDF8"/>
          </a:solidFill>
          <a:ln w="12700">
            <a:solidFill>
              <a:srgbClr val="D9D0B8"/>
            </a:solidFill>
            <a:prstDash val="solid"/>
          </a:ln>
        </p:spPr>
      </p:sp>
      <p:sp>
        <p:nvSpPr>
          <p:cNvPr id="18" name="Text 16"/>
          <p:cNvSpPr txBox="1"/>
          <p:nvPr/>
        </p:nvSpPr>
        <p:spPr>
          <a:xfrm>
            <a:off x="777240" y="4114800"/>
            <a:ext cx="457200" cy="822960"/>
          </a:xfrm>
          <a:prstGeom prst="rect">
            <a:avLst/>
          </a:prstGeom>
          <a:noFill/>
          <a:ln/>
        </p:spPr>
        <p:txBody>
          <a:bodyPr wrap="square" lIns="0" tIns="0" rIns="0" bIns="0" rtlCol="0" anchor="ctr"/>
          <a:lstStyle/>
          <a:p>
            <a:pPr algn="ctr" indent="0" marL="0">
              <a:buNone/>
            </a:pPr>
            <a:r>
              <a:rPr lang="en-US" sz="2000" b="1" dirty="0">
                <a:solidFill>
                  <a:srgbClr val="AC4B27"/>
                </a:solidFill>
                <a:latin typeface="Cambria" pitchFamily="34" charset="0"/>
                <a:ea typeface="Cambria" pitchFamily="34" charset="-122"/>
                <a:cs typeface="Cambria" pitchFamily="34" charset="-120"/>
              </a:rPr>
              <a:t>5</a:t>
            </a:r>
            <a:endParaRPr lang="en-US" sz="2000" dirty="0"/>
          </a:p>
        </p:txBody>
      </p:sp>
      <p:sp>
        <p:nvSpPr>
          <p:cNvPr id="19" name="Text 17"/>
          <p:cNvSpPr txBox="1"/>
          <p:nvPr/>
        </p:nvSpPr>
        <p:spPr>
          <a:xfrm>
            <a:off x="1325880" y="4114800"/>
            <a:ext cx="4297680" cy="822960"/>
          </a:xfrm>
          <a:prstGeom prst="rect">
            <a:avLst/>
          </a:prstGeom>
          <a:noFill/>
          <a:ln/>
        </p:spPr>
        <p:txBody>
          <a:bodyPr wrap="square" lIns="0" tIns="0" rIns="0" bIns="0" rtlCol="0" anchor="ctr"/>
          <a:lstStyle/>
          <a:p>
            <a:pPr indent="0" marL="0">
              <a:buNone/>
            </a:pPr>
            <a:r>
              <a:rPr lang="en-US" sz="1350" dirty="0">
                <a:solidFill>
                  <a:srgbClr val="262420"/>
                </a:solidFill>
                <a:latin typeface="Calibri" pitchFamily="34" charset="0"/>
                <a:ea typeface="Calibri" pitchFamily="34" charset="-122"/>
                <a:cs typeface="Calibri" pitchFamily="34" charset="-120"/>
              </a:rPr>
              <a:t>Farmer: accept the order from the dashboard</a:t>
            </a:r>
            <a:endParaRPr lang="en-US" sz="1350" dirty="0"/>
          </a:p>
        </p:txBody>
      </p:sp>
      <p:sp>
        <p:nvSpPr>
          <p:cNvPr id="20" name="Shape 18"/>
          <p:cNvSpPr/>
          <p:nvPr/>
        </p:nvSpPr>
        <p:spPr>
          <a:xfrm>
            <a:off x="6035040" y="4114800"/>
            <a:ext cx="5120640" cy="822960"/>
          </a:xfrm>
          <a:prstGeom prst="roundRect">
            <a:avLst>
              <a:gd name="adj" fmla="val 6667"/>
            </a:avLst>
          </a:prstGeom>
          <a:solidFill>
            <a:srgbClr val="FFFDF8"/>
          </a:solidFill>
          <a:ln w="12700">
            <a:solidFill>
              <a:srgbClr val="D9D0B8"/>
            </a:solidFill>
            <a:prstDash val="solid"/>
          </a:ln>
        </p:spPr>
      </p:sp>
      <p:sp>
        <p:nvSpPr>
          <p:cNvPr id="21" name="Text 19"/>
          <p:cNvSpPr txBox="1"/>
          <p:nvPr/>
        </p:nvSpPr>
        <p:spPr>
          <a:xfrm>
            <a:off x="6172200" y="4114800"/>
            <a:ext cx="457200" cy="822960"/>
          </a:xfrm>
          <a:prstGeom prst="rect">
            <a:avLst/>
          </a:prstGeom>
          <a:noFill/>
          <a:ln/>
        </p:spPr>
        <p:txBody>
          <a:bodyPr wrap="square" lIns="0" tIns="0" rIns="0" bIns="0" rtlCol="0" anchor="ctr"/>
          <a:lstStyle/>
          <a:p>
            <a:pPr algn="ctr" indent="0" marL="0">
              <a:buNone/>
            </a:pPr>
            <a:r>
              <a:rPr lang="en-US" sz="2000" b="1" dirty="0">
                <a:solidFill>
                  <a:srgbClr val="AC4B27"/>
                </a:solidFill>
                <a:latin typeface="Cambria" pitchFamily="34" charset="0"/>
                <a:ea typeface="Cambria" pitchFamily="34" charset="-122"/>
                <a:cs typeface="Cambria" pitchFamily="34" charset="-120"/>
              </a:rPr>
              <a:t>6</a:t>
            </a:r>
            <a:endParaRPr lang="en-US" sz="2000" dirty="0"/>
          </a:p>
        </p:txBody>
      </p:sp>
      <p:sp>
        <p:nvSpPr>
          <p:cNvPr id="22" name="Text 20"/>
          <p:cNvSpPr txBox="1"/>
          <p:nvPr/>
        </p:nvSpPr>
        <p:spPr>
          <a:xfrm>
            <a:off x="6720840" y="4114800"/>
            <a:ext cx="4297680" cy="822960"/>
          </a:xfrm>
          <a:prstGeom prst="rect">
            <a:avLst/>
          </a:prstGeom>
          <a:noFill/>
          <a:ln/>
        </p:spPr>
        <p:txBody>
          <a:bodyPr wrap="square" lIns="0" tIns="0" rIns="0" bIns="0" rtlCol="0" anchor="ctr"/>
          <a:lstStyle/>
          <a:p>
            <a:pPr indent="0" marL="0">
              <a:buNone/>
            </a:pPr>
            <a:r>
              <a:rPr lang="en-US" sz="1350" dirty="0">
                <a:solidFill>
                  <a:srgbClr val="262420"/>
                </a:solidFill>
                <a:latin typeface="Calibri" pitchFamily="34" charset="0"/>
                <a:ea typeface="Calibri" pitchFamily="34" charset="-122"/>
                <a:cs typeface="Calibri" pitchFamily="34" charset="-120"/>
              </a:rPr>
              <a:t>Buyer: see the order status update to "accepted"</a:t>
            </a:r>
            <a:endParaRPr lang="en-US" sz="1350" dirty="0"/>
          </a:p>
        </p:txBody>
      </p:sp>
      <p:sp>
        <p:nvSpPr>
          <p:cNvPr id="23" name="Text 21"/>
          <p:cNvSpPr txBox="1"/>
          <p:nvPr/>
        </p:nvSpPr>
        <p:spPr>
          <a:xfrm>
            <a:off x="640080" y="5394960"/>
            <a:ext cx="10515600" cy="457200"/>
          </a:xfrm>
          <a:prstGeom prst="rect">
            <a:avLst/>
          </a:prstGeom>
          <a:noFill/>
          <a:ln/>
        </p:spPr>
        <p:txBody>
          <a:bodyPr wrap="square" lIns="0" tIns="0" rIns="0" bIns="0" rtlCol="0" anchor="ctr"/>
          <a:lstStyle/>
          <a:p>
            <a:pPr indent="0" marL="0">
              <a:buNone/>
            </a:pPr>
            <a:r>
              <a:rPr lang="en-US" sz="1400" b="1" dirty="0">
                <a:solidFill>
                  <a:srgbClr val="45573A"/>
                </a:solidFill>
                <a:latin typeface="Calibri" pitchFamily="34" charset="0"/>
                <a:ea typeface="Calibri" pitchFamily="34" charset="-122"/>
                <a:cs typeface="Calibri" pitchFamily="34" charset="-120"/>
              </a:rPr>
              <a:t>Live link: [your-app.vercel.app]     GitHub: [github.com/your-username/poultryconnect]</a:t>
            </a:r>
            <a:endParaRPr lang="en-US" sz="1400" dirty="0"/>
          </a:p>
        </p:txBody>
      </p:sp>
      <p:sp>
        <p:nvSpPr>
          <p:cNvPr id="24" name="Text 22"/>
          <p:cNvSpPr txBox="1"/>
          <p:nvPr/>
        </p:nvSpPr>
        <p:spPr>
          <a:xfrm>
            <a:off x="548640" y="6492240"/>
            <a:ext cx="3657600" cy="274320"/>
          </a:xfrm>
          <a:prstGeom prst="rect">
            <a:avLst/>
          </a:prstGeom>
          <a:noFill/>
          <a:ln/>
        </p:spPr>
        <p:txBody>
          <a:bodyPr wrap="square" lIns="0" tIns="0" rIns="0" bIns="0" rtlCol="0" anchor="ctr"/>
          <a:lstStyle/>
          <a:p>
            <a:pPr indent="0" marL="0">
              <a:buNone/>
            </a:pPr>
            <a:r>
              <a:rPr lang="en-US" sz="1000" dirty="0">
                <a:solidFill>
                  <a:srgbClr val="8A8474"/>
                </a:solidFill>
                <a:latin typeface="Calibri" pitchFamily="34" charset="0"/>
                <a:ea typeface="Calibri" pitchFamily="34" charset="-122"/>
                <a:cs typeface="Calibri" pitchFamily="34" charset="-120"/>
              </a:rPr>
              <a:t>PoultryConnect</a:t>
            </a:r>
            <a:endParaRPr lang="en-US" sz="1000" dirty="0"/>
          </a:p>
        </p:txBody>
      </p:sp>
      <p:sp>
        <p:nvSpPr>
          <p:cNvPr id="25" name="Text 23"/>
          <p:cNvSpPr txBox="1"/>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8A847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3"/>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400" b="1" dirty="0">
                <a:solidFill>
                  <a:srgbClr val="AC4B27"/>
                </a:solidFill>
                <a:latin typeface="Calibri" pitchFamily="34" charset="0"/>
                <a:ea typeface="Calibri" pitchFamily="34" charset="-122"/>
                <a:cs typeface="Calibri" pitchFamily="34" charset="-120"/>
              </a:rPr>
              <a:t>SECURITY &amp; DEPLOYMENT</a:t>
            </a:r>
            <a:endParaRPr lang="en-US" sz="14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262420"/>
                </a:solidFill>
                <a:latin typeface="Cambria" pitchFamily="34" charset="0"/>
                <a:ea typeface="Cambria" pitchFamily="34" charset="-122"/>
                <a:cs typeface="Cambria" pitchFamily="34" charset="-120"/>
              </a:rPr>
              <a:t>Baseline production practice, not an afterthought</a:t>
            </a:r>
            <a:endParaRPr lang="en-US" sz="3200" dirty="0"/>
          </a:p>
        </p:txBody>
      </p:sp>
      <p:sp>
        <p:nvSpPr>
          <p:cNvPr id="4" name="Shape 2"/>
          <p:cNvSpPr/>
          <p:nvPr/>
        </p:nvSpPr>
        <p:spPr>
          <a:xfrm>
            <a:off x="548640" y="1600200"/>
            <a:ext cx="2011680" cy="41148"/>
          </a:xfrm>
          <a:prstGeom prst="rect">
            <a:avLst/>
          </a:prstGeom>
          <a:solidFill>
            <a:srgbClr val="AC4B27"/>
          </a:solidFill>
          <a:ln/>
        </p:spPr>
      </p:sp>
      <p:sp>
        <p:nvSpPr>
          <p:cNvPr id="5" name="Text 3"/>
          <p:cNvSpPr txBox="1"/>
          <p:nvPr/>
        </p:nvSpPr>
        <p:spPr>
          <a:xfrm>
            <a:off x="640080" y="1965960"/>
            <a:ext cx="5120640" cy="365760"/>
          </a:xfrm>
          <a:prstGeom prst="rect">
            <a:avLst/>
          </a:prstGeom>
          <a:noFill/>
          <a:ln/>
        </p:spPr>
        <p:txBody>
          <a:bodyPr wrap="square" lIns="0" tIns="0" rIns="0" bIns="0" rtlCol="0" anchor="ctr"/>
          <a:lstStyle/>
          <a:p>
            <a:pPr indent="0" marL="0">
              <a:buNone/>
            </a:pPr>
            <a:r>
              <a:rPr lang="en-US" sz="1800" b="1" dirty="0">
                <a:solidFill>
                  <a:srgbClr val="AC4B27"/>
                </a:solidFill>
                <a:latin typeface="Cambria" pitchFamily="34" charset="0"/>
                <a:ea typeface="Cambria" pitchFamily="34" charset="-122"/>
                <a:cs typeface="Cambria" pitchFamily="34" charset="-120"/>
              </a:rPr>
              <a:t>Security</a:t>
            </a:r>
            <a:endParaRPr lang="en-US" sz="1800" dirty="0"/>
          </a:p>
        </p:txBody>
      </p:sp>
      <p:sp>
        <p:nvSpPr>
          <p:cNvPr id="6" name="Text 4"/>
          <p:cNvSpPr txBox="1"/>
          <p:nvPr/>
        </p:nvSpPr>
        <p:spPr>
          <a:xfrm>
            <a:off x="640080" y="2423160"/>
            <a:ext cx="5212080" cy="548640"/>
          </a:xfrm>
          <a:prstGeom prst="rect">
            <a:avLst/>
          </a:prstGeom>
          <a:noFill/>
          <a:ln/>
        </p:spPr>
        <p:txBody>
          <a:bodyPr wrap="square" lIns="0" tIns="0" rIns="0" bIns="0" rtlCol="0" anchor="ctr"/>
          <a:lstStyle/>
          <a:p>
            <a:pPr marL="342900" indent="-342900">
              <a:buSzPct val="100000"/>
              <a:buChar char="•"/>
            </a:pPr>
            <a:r>
              <a:rPr lang="en-US" sz="1300" dirty="0">
                <a:solidFill>
                  <a:srgbClr val="262420"/>
                </a:solidFill>
                <a:latin typeface="Calibri" pitchFamily="34" charset="0"/>
                <a:ea typeface="Calibri" pitchFamily="34" charset="-122"/>
                <a:cs typeface="Calibri" pitchFamily="34" charset="-120"/>
              </a:rPr>
              <a:t>Passwords salted and hashed with bcrypt — never stored in plain text</a:t>
            </a:r>
            <a:endParaRPr lang="en-US" sz="1300" dirty="0"/>
          </a:p>
        </p:txBody>
      </p:sp>
      <p:sp>
        <p:nvSpPr>
          <p:cNvPr id="7" name="Text 5"/>
          <p:cNvSpPr txBox="1"/>
          <p:nvPr/>
        </p:nvSpPr>
        <p:spPr>
          <a:xfrm>
            <a:off x="640080" y="3017520"/>
            <a:ext cx="5212080" cy="548640"/>
          </a:xfrm>
          <a:prstGeom prst="rect">
            <a:avLst/>
          </a:prstGeom>
          <a:noFill/>
          <a:ln/>
        </p:spPr>
        <p:txBody>
          <a:bodyPr wrap="square" lIns="0" tIns="0" rIns="0" bIns="0" rtlCol="0" anchor="ctr"/>
          <a:lstStyle/>
          <a:p>
            <a:pPr marL="342900" indent="-342900">
              <a:buSzPct val="100000"/>
              <a:buChar char="•"/>
            </a:pPr>
            <a:r>
              <a:rPr lang="en-US" sz="1300" dirty="0">
                <a:solidFill>
                  <a:srgbClr val="262420"/>
                </a:solidFill>
                <a:latin typeface="Calibri" pitchFamily="34" charset="0"/>
                <a:ea typeface="Calibri" pitchFamily="34" charset="-122"/>
                <a:cs typeface="Calibri" pitchFamily="34" charset="-120"/>
              </a:rPr>
              <a:t>Stateless JWT authentication with a server-only signing secret</a:t>
            </a:r>
            <a:endParaRPr lang="en-US" sz="1300" dirty="0"/>
          </a:p>
        </p:txBody>
      </p:sp>
      <p:sp>
        <p:nvSpPr>
          <p:cNvPr id="8" name="Text 6"/>
          <p:cNvSpPr txBox="1"/>
          <p:nvPr/>
        </p:nvSpPr>
        <p:spPr>
          <a:xfrm>
            <a:off x="640080" y="3611880"/>
            <a:ext cx="5212080" cy="548640"/>
          </a:xfrm>
          <a:prstGeom prst="rect">
            <a:avLst/>
          </a:prstGeom>
          <a:noFill/>
          <a:ln/>
        </p:spPr>
        <p:txBody>
          <a:bodyPr wrap="square" lIns="0" tIns="0" rIns="0" bIns="0" rtlCol="0" anchor="ctr"/>
          <a:lstStyle/>
          <a:p>
            <a:pPr marL="342900" indent="-342900">
              <a:buSzPct val="100000"/>
              <a:buChar char="•"/>
            </a:pPr>
            <a:r>
              <a:rPr lang="en-US" sz="1300" dirty="0">
                <a:solidFill>
                  <a:srgbClr val="262420"/>
                </a:solidFill>
                <a:latin typeface="Calibri" pitchFamily="34" charset="0"/>
                <a:ea typeface="Calibri" pitchFamily="34" charset="-122"/>
                <a:cs typeface="Calibri" pitchFamily="34" charset="-120"/>
              </a:rPr>
              <a:t>Role-based + ownership-checked authorisation on every write</a:t>
            </a:r>
            <a:endParaRPr lang="en-US" sz="1300" dirty="0"/>
          </a:p>
        </p:txBody>
      </p:sp>
      <p:sp>
        <p:nvSpPr>
          <p:cNvPr id="9" name="Text 7"/>
          <p:cNvSpPr txBox="1"/>
          <p:nvPr/>
        </p:nvSpPr>
        <p:spPr>
          <a:xfrm>
            <a:off x="640080" y="4206240"/>
            <a:ext cx="5212080" cy="548640"/>
          </a:xfrm>
          <a:prstGeom prst="rect">
            <a:avLst/>
          </a:prstGeom>
          <a:noFill/>
          <a:ln/>
        </p:spPr>
        <p:txBody>
          <a:bodyPr wrap="square" lIns="0" tIns="0" rIns="0" bIns="0" rtlCol="0" anchor="ctr"/>
          <a:lstStyle/>
          <a:p>
            <a:pPr marL="342900" indent="-342900">
              <a:buSzPct val="100000"/>
              <a:buChar char="•"/>
            </a:pPr>
            <a:r>
              <a:rPr lang="en-US" sz="1300" dirty="0">
                <a:solidFill>
                  <a:srgbClr val="262420"/>
                </a:solidFill>
                <a:latin typeface="Calibri" pitchFamily="34" charset="0"/>
                <a:ea typeface="Calibri" pitchFamily="34" charset="-122"/>
                <a:cs typeface="Calibri" pitchFamily="34" charset="-120"/>
              </a:rPr>
              <a:t>CORS restricted to the known frontend origin</a:t>
            </a:r>
            <a:endParaRPr lang="en-US" sz="1300" dirty="0"/>
          </a:p>
        </p:txBody>
      </p:sp>
      <p:sp>
        <p:nvSpPr>
          <p:cNvPr id="10" name="Text 8"/>
          <p:cNvSpPr txBox="1"/>
          <p:nvPr/>
        </p:nvSpPr>
        <p:spPr>
          <a:xfrm>
            <a:off x="640080" y="4800600"/>
            <a:ext cx="5212080" cy="548640"/>
          </a:xfrm>
          <a:prstGeom prst="rect">
            <a:avLst/>
          </a:prstGeom>
          <a:noFill/>
          <a:ln/>
        </p:spPr>
        <p:txBody>
          <a:bodyPr wrap="square" lIns="0" tIns="0" rIns="0" bIns="0" rtlCol="0" anchor="ctr"/>
          <a:lstStyle/>
          <a:p>
            <a:pPr marL="342900" indent="-342900">
              <a:buSzPct val="100000"/>
              <a:buChar char="•"/>
            </a:pPr>
            <a:r>
              <a:rPr lang="en-US" sz="1300" dirty="0">
                <a:solidFill>
                  <a:srgbClr val="262420"/>
                </a:solidFill>
                <a:latin typeface="Calibri" pitchFamily="34" charset="0"/>
                <a:ea typeface="Calibri" pitchFamily="34" charset="-122"/>
                <a:cs typeface="Calibri" pitchFamily="34" charset="-120"/>
              </a:rPr>
              <a:t>Secrets in environment variables, excluded from Git via .gitignore</a:t>
            </a:r>
            <a:endParaRPr lang="en-US" sz="1300" dirty="0"/>
          </a:p>
        </p:txBody>
      </p:sp>
      <p:sp>
        <p:nvSpPr>
          <p:cNvPr id="11" name="Text 9"/>
          <p:cNvSpPr txBox="1"/>
          <p:nvPr/>
        </p:nvSpPr>
        <p:spPr>
          <a:xfrm>
            <a:off x="6309360" y="1965960"/>
            <a:ext cx="5120640" cy="365760"/>
          </a:xfrm>
          <a:prstGeom prst="rect">
            <a:avLst/>
          </a:prstGeom>
          <a:noFill/>
          <a:ln/>
        </p:spPr>
        <p:txBody>
          <a:bodyPr wrap="square" lIns="0" tIns="0" rIns="0" bIns="0" rtlCol="0" anchor="ctr"/>
          <a:lstStyle/>
          <a:p>
            <a:pPr indent="0" marL="0">
              <a:buNone/>
            </a:pPr>
            <a:r>
              <a:rPr lang="en-US" sz="1800" b="1" dirty="0">
                <a:solidFill>
                  <a:srgbClr val="45573A"/>
                </a:solidFill>
                <a:latin typeface="Cambria" pitchFamily="34" charset="0"/>
                <a:ea typeface="Cambria" pitchFamily="34" charset="-122"/>
                <a:cs typeface="Cambria" pitchFamily="34" charset="-120"/>
              </a:rPr>
              <a:t>Deployment pipeline</a:t>
            </a:r>
            <a:endParaRPr lang="en-US" sz="1800" dirty="0"/>
          </a:p>
        </p:txBody>
      </p:sp>
      <p:sp>
        <p:nvSpPr>
          <p:cNvPr id="12" name="Text 10"/>
          <p:cNvSpPr txBox="1"/>
          <p:nvPr/>
        </p:nvSpPr>
        <p:spPr>
          <a:xfrm>
            <a:off x="6309360" y="2423160"/>
            <a:ext cx="5212080" cy="548640"/>
          </a:xfrm>
          <a:prstGeom prst="rect">
            <a:avLst/>
          </a:prstGeom>
          <a:noFill/>
          <a:ln/>
        </p:spPr>
        <p:txBody>
          <a:bodyPr wrap="square" lIns="0" tIns="0" rIns="0" bIns="0" rtlCol="0" anchor="ctr"/>
          <a:lstStyle/>
          <a:p>
            <a:pPr marL="342900" indent="-342900">
              <a:buSzPct val="100000"/>
              <a:buChar char="•"/>
            </a:pPr>
            <a:r>
              <a:rPr lang="en-US" sz="1300" dirty="0">
                <a:solidFill>
                  <a:srgbClr val="262420"/>
                </a:solidFill>
                <a:latin typeface="Calibri" pitchFamily="34" charset="0"/>
                <a:ea typeface="Calibri" pitchFamily="34" charset="-122"/>
                <a:cs typeface="Calibri" pitchFamily="34" charset="-120"/>
              </a:rPr>
              <a:t>Single GitHub repo, backend + frontend directories</a:t>
            </a:r>
            <a:endParaRPr lang="en-US" sz="1300" dirty="0"/>
          </a:p>
        </p:txBody>
      </p:sp>
      <p:sp>
        <p:nvSpPr>
          <p:cNvPr id="13" name="Text 11"/>
          <p:cNvSpPr txBox="1"/>
          <p:nvPr/>
        </p:nvSpPr>
        <p:spPr>
          <a:xfrm>
            <a:off x="6309360" y="3017520"/>
            <a:ext cx="5212080" cy="548640"/>
          </a:xfrm>
          <a:prstGeom prst="rect">
            <a:avLst/>
          </a:prstGeom>
          <a:noFill/>
          <a:ln/>
        </p:spPr>
        <p:txBody>
          <a:bodyPr wrap="square" lIns="0" tIns="0" rIns="0" bIns="0" rtlCol="0" anchor="ctr"/>
          <a:lstStyle/>
          <a:p>
            <a:pPr marL="342900" indent="-342900">
              <a:buSzPct val="100000"/>
              <a:buChar char="•"/>
            </a:pPr>
            <a:r>
              <a:rPr lang="en-US" sz="1300" dirty="0">
                <a:solidFill>
                  <a:srgbClr val="262420"/>
                </a:solidFill>
                <a:latin typeface="Calibri" pitchFamily="34" charset="0"/>
                <a:ea typeface="Calibri" pitchFamily="34" charset="-122"/>
                <a:cs typeface="Calibri" pitchFamily="34" charset="-120"/>
              </a:rPr>
              <a:t>Push to main → Render auto-builds and redeploys the API</a:t>
            </a:r>
            <a:endParaRPr lang="en-US" sz="1300" dirty="0"/>
          </a:p>
        </p:txBody>
      </p:sp>
      <p:sp>
        <p:nvSpPr>
          <p:cNvPr id="14" name="Text 12"/>
          <p:cNvSpPr txBox="1"/>
          <p:nvPr/>
        </p:nvSpPr>
        <p:spPr>
          <a:xfrm>
            <a:off x="6309360" y="3611880"/>
            <a:ext cx="5212080" cy="548640"/>
          </a:xfrm>
          <a:prstGeom prst="rect">
            <a:avLst/>
          </a:prstGeom>
          <a:noFill/>
          <a:ln/>
        </p:spPr>
        <p:txBody>
          <a:bodyPr wrap="square" lIns="0" tIns="0" rIns="0" bIns="0" rtlCol="0" anchor="ctr"/>
          <a:lstStyle/>
          <a:p>
            <a:pPr marL="342900" indent="-342900">
              <a:buSzPct val="100000"/>
              <a:buChar char="•"/>
            </a:pPr>
            <a:r>
              <a:rPr lang="en-US" sz="1300" dirty="0">
                <a:solidFill>
                  <a:srgbClr val="262420"/>
                </a:solidFill>
                <a:latin typeface="Calibri" pitchFamily="34" charset="0"/>
                <a:ea typeface="Calibri" pitchFamily="34" charset="-122"/>
                <a:cs typeface="Calibri" pitchFamily="34" charset="-120"/>
              </a:rPr>
              <a:t>Push to main → Vercel auto-builds and redeploys the SPA</a:t>
            </a:r>
            <a:endParaRPr lang="en-US" sz="1300" dirty="0"/>
          </a:p>
        </p:txBody>
      </p:sp>
      <p:sp>
        <p:nvSpPr>
          <p:cNvPr id="15" name="Text 13"/>
          <p:cNvSpPr txBox="1"/>
          <p:nvPr/>
        </p:nvSpPr>
        <p:spPr>
          <a:xfrm>
            <a:off x="6309360" y="4206240"/>
            <a:ext cx="5212080" cy="548640"/>
          </a:xfrm>
          <a:prstGeom prst="rect">
            <a:avLst/>
          </a:prstGeom>
          <a:noFill/>
          <a:ln/>
        </p:spPr>
        <p:txBody>
          <a:bodyPr wrap="square" lIns="0" tIns="0" rIns="0" bIns="0" rtlCol="0" anchor="ctr"/>
          <a:lstStyle/>
          <a:p>
            <a:pPr marL="342900" indent="-342900">
              <a:buSzPct val="100000"/>
              <a:buChar char="•"/>
            </a:pPr>
            <a:r>
              <a:rPr lang="en-US" sz="1300" dirty="0">
                <a:solidFill>
                  <a:srgbClr val="262420"/>
                </a:solidFill>
                <a:latin typeface="Calibri" pitchFamily="34" charset="0"/>
                <a:ea typeface="Calibri" pitchFamily="34" charset="-122"/>
                <a:cs typeface="Calibri" pitchFamily="34" charset="-120"/>
              </a:rPr>
              <a:t>Environment variables injected per-platform, never hard-coded</a:t>
            </a:r>
            <a:endParaRPr lang="en-US" sz="1300" dirty="0"/>
          </a:p>
        </p:txBody>
      </p:sp>
      <p:sp>
        <p:nvSpPr>
          <p:cNvPr id="16" name="Text 14"/>
          <p:cNvSpPr txBox="1"/>
          <p:nvPr/>
        </p:nvSpPr>
        <p:spPr>
          <a:xfrm>
            <a:off x="6309360" y="4800600"/>
            <a:ext cx="5212080" cy="548640"/>
          </a:xfrm>
          <a:prstGeom prst="rect">
            <a:avLst/>
          </a:prstGeom>
          <a:noFill/>
          <a:ln/>
        </p:spPr>
        <p:txBody>
          <a:bodyPr wrap="square" lIns="0" tIns="0" rIns="0" bIns="0" rtlCol="0" anchor="ctr"/>
          <a:lstStyle/>
          <a:p>
            <a:pPr marL="342900" indent="-342900">
              <a:buSzPct val="100000"/>
              <a:buChar char="•"/>
            </a:pPr>
            <a:r>
              <a:rPr lang="en-US" sz="1300" dirty="0">
                <a:solidFill>
                  <a:srgbClr val="262420"/>
                </a:solidFill>
                <a:latin typeface="Calibri" pitchFamily="34" charset="0"/>
                <a:ea typeface="Calibri" pitchFamily="34" charset="-122"/>
                <a:cs typeface="Calibri" pitchFamily="34" charset="-120"/>
              </a:rPr>
              <a:t>Live within minutes of every accepted change</a:t>
            </a:r>
            <a:endParaRPr lang="en-US" sz="1300" dirty="0"/>
          </a:p>
        </p:txBody>
      </p:sp>
      <p:sp>
        <p:nvSpPr>
          <p:cNvPr id="17" name="Text 15"/>
          <p:cNvSpPr txBox="1"/>
          <p:nvPr/>
        </p:nvSpPr>
        <p:spPr>
          <a:xfrm>
            <a:off x="548640" y="6492240"/>
            <a:ext cx="3657600" cy="274320"/>
          </a:xfrm>
          <a:prstGeom prst="rect">
            <a:avLst/>
          </a:prstGeom>
          <a:noFill/>
          <a:ln/>
        </p:spPr>
        <p:txBody>
          <a:bodyPr wrap="square" lIns="0" tIns="0" rIns="0" bIns="0" rtlCol="0" anchor="ctr"/>
          <a:lstStyle/>
          <a:p>
            <a:pPr indent="0" marL="0">
              <a:buNone/>
            </a:pPr>
            <a:r>
              <a:rPr lang="en-US" sz="1000" dirty="0">
                <a:solidFill>
                  <a:srgbClr val="8A8474"/>
                </a:solidFill>
                <a:latin typeface="Calibri" pitchFamily="34" charset="0"/>
                <a:ea typeface="Calibri" pitchFamily="34" charset="-122"/>
                <a:cs typeface="Calibri" pitchFamily="34" charset="-120"/>
              </a:rPr>
              <a:t>PoultryConnect</a:t>
            </a:r>
            <a:endParaRPr lang="en-US" sz="1000" dirty="0"/>
          </a:p>
        </p:txBody>
      </p:sp>
      <p:sp>
        <p:nvSpPr>
          <p:cNvPr id="18" name="Text 16"/>
          <p:cNvSpPr txBox="1"/>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8A847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62420"/>
        </a:solidFill>
      </p:bgPr>
    </p:bg>
    <p:spTree>
      <p:nvGrpSpPr>
        <p:cNvPr id="1" name=""/>
        <p:cNvGrpSpPr/>
        <p:nvPr/>
      </p:nvGrpSpPr>
      <p:grpSpPr>
        <a:xfrm>
          <a:off x="0" y="0"/>
          <a:ext cx="0" cy="0"/>
          <a:chOff x="0" y="0"/>
          <a:chExt cx="0" cy="0"/>
        </a:xfrm>
      </p:grpSpPr>
      <p:sp>
        <p:nvSpPr>
          <p:cNvPr id="2" name="Text 0"/>
          <p:cNvSpPr txBox="1"/>
          <p:nvPr/>
        </p:nvSpPr>
        <p:spPr>
          <a:xfrm>
            <a:off x="548640" y="365760"/>
            <a:ext cx="7315200" cy="365760"/>
          </a:xfrm>
          <a:prstGeom prst="rect">
            <a:avLst/>
          </a:prstGeom>
          <a:noFill/>
          <a:ln/>
        </p:spPr>
        <p:txBody>
          <a:bodyPr wrap="square" lIns="0" tIns="0" rIns="0" bIns="0" rtlCol="0" anchor="ctr"/>
          <a:lstStyle/>
          <a:p>
            <a:pPr indent="0" marL="0">
              <a:buNone/>
            </a:pPr>
            <a:r>
              <a:rPr lang="en-US" sz="1400" b="1" dirty="0">
                <a:solidFill>
                  <a:srgbClr val="E4C878"/>
                </a:solidFill>
                <a:latin typeface="Calibri" pitchFamily="34" charset="0"/>
                <a:ea typeface="Calibri" pitchFamily="34" charset="-122"/>
                <a:cs typeface="Calibri" pitchFamily="34" charset="-120"/>
              </a:rPr>
              <a:t>LIMITATIONS &amp; NEXT STEPS</a:t>
            </a:r>
            <a:endParaRPr lang="en-US" sz="1400" dirty="0"/>
          </a:p>
        </p:txBody>
      </p:sp>
      <p:sp>
        <p:nvSpPr>
          <p:cNvPr id="3" name="Text 1"/>
          <p:cNvSpPr txBox="1"/>
          <p:nvPr/>
        </p:nvSpPr>
        <p:spPr>
          <a:xfrm>
            <a:off x="548640" y="685800"/>
            <a:ext cx="10515600" cy="822960"/>
          </a:xfrm>
          <a:prstGeom prst="rect">
            <a:avLst/>
          </a:prstGeom>
          <a:noFill/>
          <a:ln/>
        </p:spPr>
        <p:txBody>
          <a:bodyPr wrap="square" lIns="0" tIns="0" rIns="0" bIns="0" rtlCol="0" anchor="ctr"/>
          <a:lstStyle/>
          <a:p>
            <a:pPr indent="0" marL="0">
              <a:buNone/>
            </a:pPr>
            <a:r>
              <a:rPr lang="en-US" sz="3200" b="1" dirty="0">
                <a:solidFill>
                  <a:srgbClr val="FFFDF8"/>
                </a:solidFill>
                <a:latin typeface="Cambria" pitchFamily="34" charset="0"/>
                <a:ea typeface="Cambria" pitchFamily="34" charset="-122"/>
                <a:cs typeface="Cambria" pitchFamily="34" charset="-120"/>
              </a:rPr>
              <a:t>Where this goes next</a:t>
            </a:r>
            <a:endParaRPr lang="en-US" sz="3200" dirty="0"/>
          </a:p>
        </p:txBody>
      </p:sp>
      <p:sp>
        <p:nvSpPr>
          <p:cNvPr id="4" name="Text 2"/>
          <p:cNvSpPr txBox="1"/>
          <p:nvPr/>
        </p:nvSpPr>
        <p:spPr>
          <a:xfrm>
            <a:off x="822960" y="1920240"/>
            <a:ext cx="10332720" cy="502920"/>
          </a:xfrm>
          <a:prstGeom prst="rect">
            <a:avLst/>
          </a:prstGeom>
          <a:noFill/>
          <a:ln/>
        </p:spPr>
        <p:txBody>
          <a:bodyPr wrap="square" lIns="0" tIns="0" rIns="0" bIns="0" rtlCol="0" anchor="ctr"/>
          <a:lstStyle/>
          <a:p>
            <a:pPr marL="342900" indent="-342900">
              <a:buSzPct val="100000"/>
              <a:buChar char="•"/>
            </a:pPr>
            <a:r>
              <a:rPr lang="en-US" sz="1500" dirty="0">
                <a:solidFill>
                  <a:srgbClr val="F6F1E3"/>
                </a:solidFill>
                <a:latin typeface="Calibri" pitchFamily="34" charset="0"/>
                <a:ea typeface="Calibri" pitchFamily="34" charset="-122"/>
                <a:cs typeface="Calibri" pitchFamily="34" charset="-120"/>
              </a:rPr>
              <a:t>Add payment integration (currently arranged off-platform)</a:t>
            </a:r>
            <a:endParaRPr lang="en-US" sz="1500" dirty="0"/>
          </a:p>
        </p:txBody>
      </p:sp>
      <p:sp>
        <p:nvSpPr>
          <p:cNvPr id="5" name="Text 3"/>
          <p:cNvSpPr txBox="1"/>
          <p:nvPr/>
        </p:nvSpPr>
        <p:spPr>
          <a:xfrm>
            <a:off x="822960" y="2487168"/>
            <a:ext cx="10332720" cy="502920"/>
          </a:xfrm>
          <a:prstGeom prst="rect">
            <a:avLst/>
          </a:prstGeom>
          <a:noFill/>
          <a:ln/>
        </p:spPr>
        <p:txBody>
          <a:bodyPr wrap="square" lIns="0" tIns="0" rIns="0" bIns="0" rtlCol="0" anchor="ctr"/>
          <a:lstStyle/>
          <a:p>
            <a:pPr marL="342900" indent="-342900">
              <a:buSzPct val="100000"/>
              <a:buChar char="•"/>
            </a:pPr>
            <a:r>
              <a:rPr lang="en-US" sz="1500" dirty="0">
                <a:solidFill>
                  <a:srgbClr val="F6F1E3"/>
                </a:solidFill>
                <a:latin typeface="Calibri" pitchFamily="34" charset="0"/>
                <a:ea typeface="Calibri" pitchFamily="34" charset="-122"/>
                <a:cs typeface="Calibri" pitchFamily="34" charset="-120"/>
              </a:rPr>
              <a:t>Add listing photos via cloud object storage (S3 / Cloudinary)</a:t>
            </a:r>
            <a:endParaRPr lang="en-US" sz="1500" dirty="0"/>
          </a:p>
        </p:txBody>
      </p:sp>
      <p:sp>
        <p:nvSpPr>
          <p:cNvPr id="6" name="Text 4"/>
          <p:cNvSpPr txBox="1"/>
          <p:nvPr/>
        </p:nvSpPr>
        <p:spPr>
          <a:xfrm>
            <a:off x="822960" y="3054096"/>
            <a:ext cx="10332720" cy="502920"/>
          </a:xfrm>
          <a:prstGeom prst="rect">
            <a:avLst/>
          </a:prstGeom>
          <a:noFill/>
          <a:ln/>
        </p:spPr>
        <p:txBody>
          <a:bodyPr wrap="square" lIns="0" tIns="0" rIns="0" bIns="0" rtlCol="0" anchor="ctr"/>
          <a:lstStyle/>
          <a:p>
            <a:pPr marL="342900" indent="-342900">
              <a:buSzPct val="100000"/>
              <a:buChar char="•"/>
            </a:pPr>
            <a:r>
              <a:rPr lang="en-US" sz="1500" dirty="0">
                <a:solidFill>
                  <a:srgbClr val="F6F1E3"/>
                </a:solidFill>
                <a:latin typeface="Calibri" pitchFamily="34" charset="0"/>
                <a:ea typeface="Calibri" pitchFamily="34" charset="-122"/>
                <a:cs typeface="Calibri" pitchFamily="34" charset="-120"/>
              </a:rPr>
              <a:t>SMS/USSD channel for farmers without smartphones</a:t>
            </a:r>
            <a:endParaRPr lang="en-US" sz="1500" dirty="0"/>
          </a:p>
        </p:txBody>
      </p:sp>
      <p:sp>
        <p:nvSpPr>
          <p:cNvPr id="7" name="Text 5"/>
          <p:cNvSpPr txBox="1"/>
          <p:nvPr/>
        </p:nvSpPr>
        <p:spPr>
          <a:xfrm>
            <a:off x="822960" y="3621024"/>
            <a:ext cx="10332720" cy="502920"/>
          </a:xfrm>
          <a:prstGeom prst="rect">
            <a:avLst/>
          </a:prstGeom>
          <a:noFill/>
          <a:ln/>
        </p:spPr>
        <p:txBody>
          <a:bodyPr wrap="square" lIns="0" tIns="0" rIns="0" bIns="0" rtlCol="0" anchor="ctr"/>
          <a:lstStyle/>
          <a:p>
            <a:pPr marL="342900" indent="-342900">
              <a:buSzPct val="100000"/>
              <a:buChar char="•"/>
            </a:pPr>
            <a:r>
              <a:rPr lang="en-US" sz="1500" dirty="0">
                <a:solidFill>
                  <a:srgbClr val="F6F1E3"/>
                </a:solidFill>
                <a:latin typeface="Calibri" pitchFamily="34" charset="0"/>
                <a:ea typeface="Calibri" pitchFamily="34" charset="-122"/>
                <a:cs typeface="Calibri" pitchFamily="34" charset="-120"/>
              </a:rPr>
              <a:t>Automated test suite (Jest/Supertest) + dedicated CI workflow</a:t>
            </a:r>
            <a:endParaRPr lang="en-US" sz="1500" dirty="0"/>
          </a:p>
        </p:txBody>
      </p:sp>
      <p:sp>
        <p:nvSpPr>
          <p:cNvPr id="8" name="Text 6"/>
          <p:cNvSpPr txBox="1"/>
          <p:nvPr/>
        </p:nvSpPr>
        <p:spPr>
          <a:xfrm>
            <a:off x="822960" y="4187952"/>
            <a:ext cx="10332720" cy="502920"/>
          </a:xfrm>
          <a:prstGeom prst="rect">
            <a:avLst/>
          </a:prstGeom>
          <a:noFill/>
          <a:ln/>
        </p:spPr>
        <p:txBody>
          <a:bodyPr wrap="square" lIns="0" tIns="0" rIns="0" bIns="0" rtlCol="0" anchor="ctr"/>
          <a:lstStyle/>
          <a:p>
            <a:pPr marL="342900" indent="-342900">
              <a:buSzPct val="100000"/>
              <a:buChar char="•"/>
            </a:pPr>
            <a:r>
              <a:rPr lang="en-US" sz="1500" dirty="0">
                <a:solidFill>
                  <a:srgbClr val="F6F1E3"/>
                </a:solidFill>
                <a:latin typeface="Calibri" pitchFamily="34" charset="0"/>
                <a:ea typeface="Calibri" pitchFamily="34" charset="-122"/>
                <a:cs typeface="Calibri" pitchFamily="34" charset="-120"/>
              </a:rPr>
              <a:t>Ratings and trust mechanism for repeat usage at scale</a:t>
            </a:r>
            <a:endParaRPr lang="en-US" sz="1500" dirty="0"/>
          </a:p>
        </p:txBody>
      </p:sp>
      <p:sp>
        <p:nvSpPr>
          <p:cNvPr id="9" name="Shape 7"/>
          <p:cNvSpPr/>
          <p:nvPr/>
        </p:nvSpPr>
        <p:spPr>
          <a:xfrm>
            <a:off x="0" y="5029200"/>
            <a:ext cx="12188952" cy="27432"/>
          </a:xfrm>
          <a:prstGeom prst="rect">
            <a:avLst/>
          </a:prstGeom>
          <a:solidFill>
            <a:srgbClr val="E4C878"/>
          </a:solidFill>
          <a:ln/>
        </p:spPr>
      </p:sp>
      <p:sp>
        <p:nvSpPr>
          <p:cNvPr id="10" name="Text 8"/>
          <p:cNvSpPr txBox="1"/>
          <p:nvPr/>
        </p:nvSpPr>
        <p:spPr>
          <a:xfrm>
            <a:off x="822960" y="5257800"/>
            <a:ext cx="10332720" cy="1188720"/>
          </a:xfrm>
          <a:prstGeom prst="rect">
            <a:avLst/>
          </a:prstGeom>
          <a:noFill/>
          <a:ln/>
        </p:spPr>
        <p:txBody>
          <a:bodyPr wrap="square" lIns="0" tIns="0" rIns="0" bIns="0" rtlCol="0" anchor="ctr"/>
          <a:lstStyle/>
          <a:p>
            <a:pPr indent="0" marL="0">
              <a:buNone/>
            </a:pPr>
            <a:r>
              <a:rPr lang="en-US" sz="1600" i="1" dirty="0">
                <a:solidFill>
                  <a:srgbClr val="FFFDF8"/>
                </a:solidFill>
                <a:latin typeface="Calibri" pitchFamily="34" charset="0"/>
                <a:ea typeface="Calibri" pitchFamily="34" charset="-122"/>
                <a:cs typeface="Calibri" pitchFamily="34" charset="-120"/>
              </a:rPr>
              <a:t>PoultryConnect delivers, at coursework scale, a full cloud-native lifecycle: an evidenced real-world problem, a scalable three-tier architecture, secure implementation, and continuous cloud deployment — a credible foundation for a real pilot with farmers and buyers.</a:t>
            </a:r>
            <a:endParaRPr lang="en-US" sz="1600" dirty="0"/>
          </a:p>
        </p:txBody>
      </p:sp>
      <p:sp>
        <p:nvSpPr>
          <p:cNvPr id="11" name="Text 9"/>
          <p:cNvSpPr txBox="1"/>
          <p:nvPr/>
        </p:nvSpPr>
        <p:spPr>
          <a:xfrm>
            <a:off x="548640" y="6492240"/>
            <a:ext cx="3657600" cy="274320"/>
          </a:xfrm>
          <a:prstGeom prst="rect">
            <a:avLst/>
          </a:prstGeom>
          <a:noFill/>
          <a:ln/>
        </p:spPr>
        <p:txBody>
          <a:bodyPr wrap="square" lIns="0" tIns="0" rIns="0" bIns="0" rtlCol="0" anchor="ctr"/>
          <a:lstStyle/>
          <a:p>
            <a:pPr indent="0" marL="0">
              <a:buNone/>
            </a:pPr>
            <a:r>
              <a:rPr lang="en-US" sz="1000" dirty="0">
                <a:solidFill>
                  <a:srgbClr val="8A8474"/>
                </a:solidFill>
                <a:latin typeface="Calibri" pitchFamily="34" charset="0"/>
                <a:ea typeface="Calibri" pitchFamily="34" charset="-122"/>
                <a:cs typeface="Calibri" pitchFamily="34" charset="-120"/>
              </a:rPr>
              <a:t>PoultryConnect</a:t>
            </a:r>
            <a:endParaRPr lang="en-US" sz="1000" dirty="0"/>
          </a:p>
        </p:txBody>
      </p:sp>
      <p:sp>
        <p:nvSpPr>
          <p:cNvPr id="12" name="Text 10"/>
          <p:cNvSpPr txBox="1"/>
          <p:nvPr/>
        </p:nvSpPr>
        <p:spPr>
          <a:xfrm>
            <a:off x="11338560" y="6492240"/>
            <a:ext cx="365760" cy="274320"/>
          </a:xfrm>
          <a:prstGeom prst="rect">
            <a:avLst/>
          </a:prstGeom>
          <a:noFill/>
          <a:ln/>
        </p:spPr>
        <p:txBody>
          <a:bodyPr wrap="square" lIns="0" tIns="0" rIns="0" bIns="0" rtlCol="0" anchor="ctr"/>
          <a:lstStyle/>
          <a:p>
            <a:pPr algn="r" indent="0" marL="0">
              <a:buNone/>
            </a:pPr>
            <a:r>
              <a:rPr lang="en-US" sz="1000" dirty="0">
                <a:solidFill>
                  <a:srgbClr val="8A847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2026-09-15T06:06:27Z</dcterms:created>
  <dcterms:modified xsi:type="dcterms:W3CDTF">2026-09-15T06:06:27Z</dcterms:modified>
</cp:coreProperties>
</file>